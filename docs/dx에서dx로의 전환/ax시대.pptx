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5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36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446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A6346-B894-4E25-A2D6-BFD21EA4ACB3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BADC9-0197-4F3B-9859-CE04A08DF7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67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BADC9-0197-4F3B-9859-CE04A08DF74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765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509C0-7508-FF46-30BA-668895A3F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rgbClr val="48599F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B9038A-CC7D-C9F3-E4B0-55FA4AD0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1C117A-4CE9-9EA0-DEF9-DC6DB01D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530720-E591-1AC0-87BD-11B7F7B0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C9BDA-79A2-7466-DA60-594EAF4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7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0C9B9-35BA-BB61-8F90-AED42AEC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235"/>
            <a:ext cx="10515600" cy="680655"/>
          </a:xfrm>
          <a:solidFill>
            <a:srgbClr val="48599F"/>
          </a:solidFill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FE7D3-58AB-5DBB-32AD-99AEBCE0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821"/>
            <a:ext cx="10515600" cy="5089142"/>
          </a:xfrm>
          <a:ln>
            <a:solidFill>
              <a:srgbClr val="48599F"/>
            </a:solidFill>
          </a:ln>
        </p:spPr>
        <p:txBody>
          <a:bodyPr/>
          <a:lstStyle>
            <a:lvl1pPr>
              <a:lnSpc>
                <a:spcPct val="150000"/>
              </a:lnSpc>
              <a:defRPr sz="2000" b="1"/>
            </a:lvl1pPr>
            <a:lvl2pPr>
              <a:lnSpc>
                <a:spcPct val="150000"/>
              </a:lnSpc>
              <a:defRPr sz="2000" b="1"/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2000" b="1"/>
            </a:lvl4pPr>
            <a:lvl5pPr>
              <a:lnSpc>
                <a:spcPct val="150000"/>
              </a:lnSpc>
              <a:defRPr sz="2000"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505B7-F2D4-7273-2BDD-F67AF658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57FB8F-A526-DC6A-E009-FBC771ACE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A8223E-45C2-B3C3-DC3D-3998E872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27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0CD30-2E7C-037E-1531-4CD36D3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8BB554-1514-C2E0-4509-6C2335DA5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3D816-38F3-6A93-8944-53C5151A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4E7AD-749C-D2A8-A42A-D91355B6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3F80E9-47A5-BC46-075F-DFCEFDE4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70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06641-B4FD-C655-2D69-26DBD4B5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7CA6E-6027-75A6-D503-9390134ED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FD3234-1960-7633-B4B7-56FA6792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72747-520F-B74F-7EF2-9C6C67E9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9F04DC-BDF3-332C-5349-92DA964B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EB3765-AFF1-8D13-6FE8-F422ED8E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66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6E3CF-2A37-C0B3-C99B-1762D0E0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941BC0-3535-F0F6-DDC3-D558F7DB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07E7A6-E869-BC4E-CCF6-63D86E8F6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059BED-7040-53C5-F608-B30D27C40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0F91C6-3D31-5A31-E9E3-BBF59D9BE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64AD20-831D-9692-3A47-71CB91B7E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D2EA7C-4D8A-5215-FE7B-1498B316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FCC81D-8EC1-19CC-8591-012963E5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24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5104A-98CE-3BD8-21DA-CC117D3A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426BD0-57A7-5DAF-9743-A8FB8F1F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4CD4CA-0F67-A03D-73EB-0AC786C8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19E9B0-70B4-77D6-5010-C96762AD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62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97799C-5013-BEA0-F207-611727FF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D5B7F3-3B53-FE50-5772-91E37F1E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15636-3C27-62C6-06A8-667CD69A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40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E9A70-32AC-1AD6-95B1-803F0B1B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BA0900-693F-0681-C940-DB74C97A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169AC6-942F-63E8-2476-87DDB10E8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84A5D-98F5-4AA8-2822-BDE307A2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FE88EF-275F-E471-CA23-571504D5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B6CD4-0141-9366-B4B6-7D521D4B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4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DF9E1-FA89-B889-AC81-FDF07079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CFFFC1-61AC-FC8B-5FD0-7BF077E5B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0732FA-BEDC-6765-5D37-F8C0065E4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F16CB9-8F15-C0D2-1024-9233FC9A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9461F1-4F71-4665-9AEE-2A818B27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B9B318-B664-ACE5-CEC5-8C2588CE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51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EE2B4-788D-8AFA-6652-4680AF73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AF4055-3B9B-22F8-001A-03D6688F2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DE9B35-DBA6-5F01-81A9-3BD4DCE3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3823E-68FD-B1A8-038D-DD81AB4A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AB58C-B751-E3DB-C633-DF59F51C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06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3194A4-E904-7482-90B4-0F0FF9EE8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BA6696-7FDD-73FE-1B9A-C3F302979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98DD3-C258-109A-64BC-5D84AED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70D69-1700-F96F-6C75-EA667936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0A0316-E4F7-A936-60A4-087F549A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00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1AECFA-8779-CA9F-33B2-099E99CF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D666E-E608-3C02-379E-785246341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033741-1195-94E5-A40D-BD15A3465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76C94-91DE-41D7-86F3-B7702797BECD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3E63C-6228-7E27-3CBA-DD74A3539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51E1FD-1142-D483-3D59-D088D3343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61228-FDD1-48F5-9E85-D70E71A1F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27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3C1FF-A29C-B4E4-0CD3-52D6FE521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 시대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7187A5-9FB7-4D4C-7A71-88256713A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53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3FAAF-C45C-B33C-C363-6316AD1B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DX/AX</a:t>
            </a:r>
            <a:r>
              <a:rPr lang="ko-KR" altLang="en-US" dirty="0"/>
              <a:t> 의 시대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869A273-8C8D-CFA3-CDF1-71E5D9CEF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986" y="1214132"/>
            <a:ext cx="8560105" cy="5089525"/>
          </a:xfrm>
        </p:spPr>
      </p:pic>
    </p:spTree>
    <p:extLst>
      <p:ext uri="{BB962C8B-B14F-4D97-AF65-F5344CB8AC3E}">
        <p14:creationId xmlns:p14="http://schemas.microsoft.com/office/powerpoint/2010/main" val="266651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E307B-6936-1E56-9BBF-219CB87E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AX</a:t>
            </a:r>
            <a:r>
              <a:rPr lang="ko-KR" altLang="en-US" dirty="0" err="1"/>
              <a:t>시대란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0BE11-3226-563D-5A54-57E09DF0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1" dirty="0"/>
              <a:t>AX </a:t>
            </a:r>
            <a:r>
              <a:rPr lang="ko-KR" altLang="en-US" b="1" dirty="0"/>
              <a:t>시대</a:t>
            </a:r>
            <a:r>
              <a:rPr lang="ko-KR" altLang="en-US" dirty="0"/>
              <a:t>는 </a:t>
            </a:r>
            <a:r>
              <a:rPr lang="en-US" altLang="ko-KR" dirty="0"/>
              <a:t>AI Transformation (</a:t>
            </a:r>
            <a:r>
              <a:rPr lang="ko-KR" altLang="en-US" dirty="0"/>
              <a:t>인공지능 전환</a:t>
            </a:r>
            <a:r>
              <a:rPr lang="en-US" altLang="ko-KR" dirty="0"/>
              <a:t>)</a:t>
            </a:r>
            <a:r>
              <a:rPr lang="ko-KR" altLang="en-US" dirty="0"/>
              <a:t>의 약자로</a:t>
            </a:r>
            <a:r>
              <a:rPr lang="en-US" altLang="ko-KR" dirty="0"/>
              <a:t>, </a:t>
            </a:r>
            <a:r>
              <a:rPr lang="ko-KR" altLang="en-US" dirty="0"/>
              <a:t>단순히 기술을 도입하는 것을 넘어 기업 활동과 산업 구조 전반을 </a:t>
            </a:r>
            <a:r>
              <a:rPr lang="ko-KR" altLang="en-US" b="1" dirty="0"/>
              <a:t>인공지능</a:t>
            </a:r>
            <a:r>
              <a:rPr lang="en-US" altLang="ko-KR" b="1" dirty="0"/>
              <a:t>(AI) </a:t>
            </a:r>
            <a:r>
              <a:rPr lang="ko-KR" altLang="en-US" b="1" dirty="0"/>
              <a:t>중심으로 근본적으로 변화시키고 재구성</a:t>
            </a:r>
            <a:r>
              <a:rPr lang="ko-KR" altLang="en-US" dirty="0"/>
              <a:t>하는 시대를 의미합니다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이는 기존의 디지털 전환</a:t>
            </a:r>
            <a:r>
              <a:rPr lang="en-US" altLang="ko-KR" dirty="0"/>
              <a:t>(DX) </a:t>
            </a:r>
            <a:r>
              <a:rPr lang="ko-KR" altLang="en-US" dirty="0"/>
              <a:t>단계를 넘어서 </a:t>
            </a:r>
            <a:r>
              <a:rPr lang="en-US" altLang="ko-KR" dirty="0"/>
              <a:t>AI</a:t>
            </a:r>
            <a:r>
              <a:rPr lang="ko-KR" altLang="en-US" dirty="0"/>
              <a:t>가 비즈니스 의사결정과 운영 전반을 근본적으로 바꾸는 것을 뜻합니다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20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0814B-9C84-D50B-A522-A679B4AB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시대의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D54FE-A666-6837-334F-E77D2DEE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자율성과 지능화</a:t>
            </a:r>
            <a:r>
              <a:rPr lang="en-US" altLang="ko-KR" dirty="0"/>
              <a:t>: </a:t>
            </a:r>
            <a:r>
              <a:rPr lang="en-US" altLang="ko-KR" b="0" dirty="0"/>
              <a:t>AI</a:t>
            </a:r>
            <a:r>
              <a:rPr lang="ko-KR" altLang="en-US" b="0" dirty="0"/>
              <a:t>가 단순 반복 업무를 넘어 데이터 기반으로 상황을 인식하고 판단하여 최적의 의사결정을 내릴 수 있게 됩니다</a:t>
            </a:r>
            <a:r>
              <a:rPr lang="en-US" altLang="ko-KR" b="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효율성 극대화</a:t>
            </a:r>
            <a:r>
              <a:rPr lang="en-US" altLang="ko-KR" dirty="0"/>
              <a:t>: </a:t>
            </a:r>
            <a:r>
              <a:rPr lang="en-US" altLang="ko-KR" b="0" dirty="0"/>
              <a:t>AI</a:t>
            </a:r>
            <a:r>
              <a:rPr lang="ko-KR" altLang="en-US" b="0" dirty="0"/>
              <a:t>를 통해 예측 분석이 가능해져 비즈니스 프로세스를 최적화하고</a:t>
            </a:r>
            <a:r>
              <a:rPr lang="en-US" altLang="ko-KR" b="0" dirty="0"/>
              <a:t>, </a:t>
            </a:r>
            <a:r>
              <a:rPr lang="ko-KR" altLang="en-US" b="0" dirty="0"/>
              <a:t>시간과 비용을 획기적으로 절감합니다</a:t>
            </a:r>
            <a:r>
              <a:rPr lang="en-US" altLang="ko-KR" b="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새로운 가치 창출</a:t>
            </a:r>
            <a:r>
              <a:rPr lang="en-US" altLang="ko-KR" dirty="0"/>
              <a:t>: </a:t>
            </a:r>
            <a:r>
              <a:rPr lang="ko-KR" altLang="en-US" b="0" dirty="0"/>
              <a:t>기존에는 불가능했던 </a:t>
            </a:r>
            <a:r>
              <a:rPr lang="ko-KR" altLang="en-US" b="0" dirty="0" err="1"/>
              <a:t>초개인화된</a:t>
            </a:r>
            <a:r>
              <a:rPr lang="ko-KR" altLang="en-US" b="0" dirty="0"/>
              <a:t> 제품</a:t>
            </a:r>
            <a:r>
              <a:rPr lang="en-US" altLang="ko-KR" b="0" dirty="0"/>
              <a:t>/</a:t>
            </a:r>
            <a:r>
              <a:rPr lang="ko-KR" altLang="en-US" b="0" dirty="0"/>
              <a:t>서비스를 개발하거나</a:t>
            </a:r>
            <a:r>
              <a:rPr lang="en-US" altLang="ko-KR" b="0" dirty="0"/>
              <a:t>, </a:t>
            </a:r>
            <a:r>
              <a:rPr lang="ko-KR" altLang="en-US" b="0" dirty="0"/>
              <a:t>새로운 수익 창출 모델을 만들어냅니다</a:t>
            </a:r>
            <a:r>
              <a:rPr lang="en-US" altLang="ko-KR" b="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전사적 통합</a:t>
            </a:r>
            <a:r>
              <a:rPr lang="en-US" altLang="ko-KR" dirty="0"/>
              <a:t>:</a:t>
            </a:r>
            <a:r>
              <a:rPr lang="en-US" altLang="ko-KR" b="0" dirty="0"/>
              <a:t> IT, </a:t>
            </a:r>
            <a:r>
              <a:rPr lang="ko-KR" altLang="en-US" b="0" dirty="0"/>
              <a:t>마케팅</a:t>
            </a:r>
            <a:r>
              <a:rPr lang="en-US" altLang="ko-KR" b="0" dirty="0"/>
              <a:t>, </a:t>
            </a:r>
            <a:r>
              <a:rPr lang="ko-KR" altLang="en-US" b="0" dirty="0"/>
              <a:t>생산</a:t>
            </a:r>
            <a:r>
              <a:rPr lang="en-US" altLang="ko-KR" b="0" dirty="0"/>
              <a:t>, </a:t>
            </a:r>
            <a:r>
              <a:rPr lang="ko-KR" altLang="en-US" b="0" dirty="0"/>
              <a:t>인사 등 기업의 모든 기능과 계층</a:t>
            </a:r>
            <a:r>
              <a:rPr lang="en-US" altLang="ko-KR" b="0" dirty="0"/>
              <a:t>(</a:t>
            </a:r>
            <a:r>
              <a:rPr lang="ko-KR" altLang="en-US" b="0" dirty="0"/>
              <a:t>현장 직원부터 </a:t>
            </a:r>
            <a:r>
              <a:rPr lang="en-US" altLang="ko-KR" b="0" dirty="0"/>
              <a:t>CEO</a:t>
            </a:r>
            <a:r>
              <a:rPr lang="ko-KR" altLang="en-US" b="0" dirty="0"/>
              <a:t>까지</a:t>
            </a:r>
            <a:r>
              <a:rPr lang="en-US" altLang="ko-KR" b="0" dirty="0"/>
              <a:t>)</a:t>
            </a:r>
            <a:r>
              <a:rPr lang="ko-KR" altLang="en-US" b="0" dirty="0"/>
              <a:t>에 </a:t>
            </a:r>
            <a:r>
              <a:rPr lang="en-US" altLang="ko-KR" b="0" dirty="0"/>
              <a:t>AI</a:t>
            </a:r>
            <a:r>
              <a:rPr lang="ko-KR" altLang="en-US" b="0" dirty="0"/>
              <a:t>가 통합되어 작동합니다</a:t>
            </a:r>
            <a:r>
              <a:rPr lang="en-US" altLang="ko-KR" b="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/>
              <a:t>온디바이스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의 부상</a:t>
            </a:r>
            <a:r>
              <a:rPr lang="en-US" altLang="ko-KR" dirty="0"/>
              <a:t>: </a:t>
            </a:r>
            <a:r>
              <a:rPr lang="ko-KR" altLang="en-US" b="0" dirty="0"/>
              <a:t>클라우드 연결 없이 기기 자체에서 </a:t>
            </a:r>
            <a:r>
              <a:rPr lang="en-US" altLang="ko-KR" b="0" dirty="0"/>
              <a:t>AI</a:t>
            </a:r>
            <a:r>
              <a:rPr lang="ko-KR" altLang="en-US" b="0" dirty="0"/>
              <a:t>가 작동하는 기술</a:t>
            </a:r>
            <a:r>
              <a:rPr lang="en-US" altLang="ko-KR" b="0" dirty="0"/>
              <a:t>(</a:t>
            </a:r>
            <a:r>
              <a:rPr lang="ko-KR" altLang="en-US" b="0" dirty="0"/>
              <a:t>예</a:t>
            </a:r>
            <a:r>
              <a:rPr lang="en-US" altLang="ko-KR" b="0" dirty="0"/>
              <a:t>: </a:t>
            </a:r>
            <a:r>
              <a:rPr lang="ko-KR" altLang="en-US" b="0" dirty="0"/>
              <a:t>스마트폰</a:t>
            </a:r>
            <a:r>
              <a:rPr lang="en-US" altLang="ko-KR" b="0" dirty="0"/>
              <a:t>, </a:t>
            </a:r>
            <a:r>
              <a:rPr lang="ko-KR" altLang="en-US" b="0" dirty="0"/>
              <a:t>노트북 등</a:t>
            </a:r>
            <a:r>
              <a:rPr lang="en-US" altLang="ko-KR" b="0" dirty="0"/>
              <a:t>)</a:t>
            </a:r>
            <a:r>
              <a:rPr lang="ko-KR" altLang="en-US" b="0" dirty="0"/>
              <a:t>이 일상에 스며들며 </a:t>
            </a:r>
            <a:r>
              <a:rPr lang="en-US" altLang="ko-KR" b="0" dirty="0"/>
              <a:t>AX</a:t>
            </a:r>
            <a:r>
              <a:rPr lang="ko-KR" altLang="en-US" b="0" dirty="0"/>
              <a:t>를 가속화합니다</a:t>
            </a:r>
            <a:r>
              <a:rPr lang="en-US" altLang="ko-KR" b="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158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0BB6E-8F97-99E8-B646-65EE6611B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와 </a:t>
            </a:r>
            <a:r>
              <a:rPr lang="en-US" altLang="ko-KR" dirty="0"/>
              <a:t>DX</a:t>
            </a:r>
            <a:r>
              <a:rPr lang="ko-KR" altLang="en-US" dirty="0"/>
              <a:t>의 차이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A65C5F13-7E1B-2F7E-3A11-3F4CCE9F2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11727"/>
              </p:ext>
            </p:extLst>
          </p:nvPr>
        </p:nvGraphicFramePr>
        <p:xfrm>
          <a:off x="838200" y="1087438"/>
          <a:ext cx="10515597" cy="44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306">
                  <a:extLst>
                    <a:ext uri="{9D8B030D-6E8A-4147-A177-3AD203B41FA5}">
                      <a16:colId xmlns:a16="http://schemas.microsoft.com/office/drawing/2014/main" val="927890438"/>
                    </a:ext>
                  </a:extLst>
                </a:gridCol>
                <a:gridCol w="5232092">
                  <a:extLst>
                    <a:ext uri="{9D8B030D-6E8A-4147-A177-3AD203B41FA5}">
                      <a16:colId xmlns:a16="http://schemas.microsoft.com/office/drawing/2014/main" val="1428461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61063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DX (Digital Transformation)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AX (AI Transformation)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997675"/>
                  </a:ext>
                </a:extLst>
              </a:tr>
              <a:tr h="806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핵심 목표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아날로그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프로세스를 </a:t>
                      </a:r>
                      <a:r>
                        <a:rPr lang="ko-KR" altLang="en-US" b="1" dirty="0"/>
                        <a:t>디지털 기술</a:t>
                      </a:r>
                      <a:r>
                        <a:rPr lang="ko-KR" altLang="en-US" dirty="0"/>
                        <a:t>로 전환하여 효율성 증대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디지털화된 프로세스에 </a:t>
                      </a:r>
                      <a:r>
                        <a:rPr lang="en-US" altLang="ko-KR" b="1"/>
                        <a:t>AI</a:t>
                      </a:r>
                      <a:r>
                        <a:rPr lang="ko-KR" altLang="en-US"/>
                        <a:t>를 적용하여 </a:t>
                      </a:r>
                      <a:r>
                        <a:rPr lang="ko-KR" altLang="en-US" b="1"/>
                        <a:t>지능화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자율화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혁신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632876"/>
                  </a:ext>
                </a:extLst>
              </a:tr>
              <a:tr h="774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중점 기술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클라우드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빅데이터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모바일 등 기본적인 디지털 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AI (</a:t>
                      </a:r>
                      <a:r>
                        <a:rPr lang="ko-KR" altLang="en-US" b="1"/>
                        <a:t>특히 생성형 </a:t>
                      </a:r>
                      <a:r>
                        <a:rPr lang="en-US" altLang="ko-KR" b="1"/>
                        <a:t>AI, </a:t>
                      </a:r>
                      <a:r>
                        <a:rPr lang="ko-KR" altLang="en-US" b="1"/>
                        <a:t>머신러닝</a:t>
                      </a:r>
                      <a:r>
                        <a:rPr lang="en-US" altLang="ko-KR" b="1"/>
                        <a:t>)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데이터 기반 예측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18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변화의 깊이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업무 프로세스의 </a:t>
                      </a:r>
                      <a:r>
                        <a:rPr lang="ko-KR" altLang="en-US" b="1" dirty="0"/>
                        <a:t>효율성 개선 및 디지털화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기업 문화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전략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제품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서비스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운영 방식 등 </a:t>
                      </a:r>
                      <a:r>
                        <a:rPr lang="ko-KR" altLang="en-US" b="1"/>
                        <a:t>전 영역의 근본적 혁신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073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가장 큰 특징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자동화 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b="1" dirty="0"/>
                        <a:t>Automation)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자율성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Autonomy) </a:t>
                      </a:r>
                      <a:r>
                        <a:rPr lang="ko-KR" altLang="en-US" b="1"/>
                        <a:t>및 지능화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Intelligence)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91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예시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종이 문서를 전자 문서로 변환</a:t>
                      </a:r>
                      <a:r>
                        <a:rPr lang="en-US" altLang="ko-KR"/>
                        <a:t>, ERP </a:t>
                      </a:r>
                      <a:r>
                        <a:rPr lang="ko-KR" altLang="en-US"/>
                        <a:t>시스템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AI </a:t>
                      </a:r>
                      <a:r>
                        <a:rPr lang="ko-KR" altLang="en-US" dirty="0" err="1"/>
                        <a:t>챗봇의</a:t>
                      </a:r>
                      <a:r>
                        <a:rPr lang="ko-KR" altLang="en-US" dirty="0"/>
                        <a:t> 고객 응대</a:t>
                      </a:r>
                      <a:r>
                        <a:rPr lang="en-US" altLang="ko-KR" dirty="0"/>
                        <a:t>, AI </a:t>
                      </a:r>
                      <a:r>
                        <a:rPr lang="ko-KR" altLang="en-US" dirty="0"/>
                        <a:t>기반 리스크 관리</a:t>
                      </a:r>
                      <a:r>
                        <a:rPr lang="en-US" altLang="ko-KR" dirty="0"/>
                        <a:t>, AI</a:t>
                      </a:r>
                      <a:r>
                        <a:rPr lang="ko-KR" altLang="en-US" dirty="0"/>
                        <a:t>를 통한 맞춤형 신약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34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29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5B41C-43B4-6083-FF37-2A1D3038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의 적용 사례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1032F-809D-EB9F-C055-ECA323A9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제조</a:t>
            </a:r>
            <a:r>
              <a:rPr lang="en-US" altLang="ko-KR" dirty="0"/>
              <a:t>/</a:t>
            </a:r>
            <a:r>
              <a:rPr lang="ko-KR" altLang="en-US" dirty="0"/>
              <a:t>산업 분야 </a:t>
            </a:r>
            <a:r>
              <a:rPr lang="en-US" altLang="ko-KR" dirty="0"/>
              <a:t>(Manufacturing)</a:t>
            </a:r>
          </a:p>
          <a:p>
            <a:pPr lvl="1"/>
            <a:r>
              <a:rPr lang="ko-KR" altLang="en-US" dirty="0"/>
              <a:t>제조 분야는 </a:t>
            </a:r>
            <a:r>
              <a:rPr lang="en-US" altLang="ko-KR" dirty="0"/>
              <a:t>AX</a:t>
            </a:r>
            <a:r>
              <a:rPr lang="ko-KR" altLang="en-US" dirty="0"/>
              <a:t>의 효과가 가장 극대화되는 영역 중 하나입니다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지능형 자율공장 </a:t>
            </a:r>
            <a:r>
              <a:rPr lang="en-US" altLang="ko-KR" dirty="0"/>
              <a:t>(Smart Factory):</a:t>
            </a:r>
            <a:endParaRPr lang="ko-KR" altLang="en-US" dirty="0"/>
          </a:p>
          <a:p>
            <a:pPr lvl="2"/>
            <a:r>
              <a:rPr lang="ko-KR" altLang="en-US" dirty="0"/>
              <a:t>예측 유지보수 </a:t>
            </a:r>
            <a:r>
              <a:rPr lang="en-US" altLang="ko-KR" dirty="0"/>
              <a:t>(Predictive Maintenance):</a:t>
            </a:r>
            <a:r>
              <a:rPr lang="ko-KR" altLang="en-US" dirty="0"/>
              <a:t> 설비 센서 데이터를 </a:t>
            </a:r>
            <a:r>
              <a:rPr lang="en-US" altLang="ko-KR" dirty="0"/>
              <a:t>AI</a:t>
            </a:r>
            <a:r>
              <a:rPr lang="ko-KR" altLang="en-US" dirty="0"/>
              <a:t>가 분석하여 고장이 나기 전에 정확히 예측하고 알려줍니다</a:t>
            </a:r>
            <a:r>
              <a:rPr lang="en-US" altLang="ko-KR" dirty="0"/>
              <a:t>. </a:t>
            </a:r>
            <a:r>
              <a:rPr lang="ko-KR" altLang="en-US" dirty="0"/>
              <a:t>이를 통해 갑작스러운 생산 중단을 방지하고 유지보수 비용을 절감합니다</a:t>
            </a:r>
            <a:r>
              <a:rPr lang="en-US" altLang="ko-KR" dirty="0"/>
              <a:t>. (</a:t>
            </a:r>
            <a:r>
              <a:rPr lang="ko-KR" altLang="en-US" dirty="0"/>
              <a:t>생산성 **</a:t>
            </a:r>
            <a:r>
              <a:rPr lang="en-US" altLang="ko-KR" dirty="0"/>
              <a:t>50% </a:t>
            </a:r>
            <a:r>
              <a:rPr lang="ko-KR" altLang="en-US" dirty="0"/>
              <a:t>증가</a:t>
            </a:r>
            <a:r>
              <a:rPr lang="en-US" altLang="ko-KR" dirty="0"/>
              <a:t>, </a:t>
            </a:r>
            <a:r>
              <a:rPr lang="ko-KR" altLang="en-US" dirty="0"/>
              <a:t>불량 </a:t>
            </a:r>
            <a:r>
              <a:rPr lang="en-US" altLang="ko-KR" dirty="0"/>
              <a:t>50% </a:t>
            </a:r>
            <a:r>
              <a:rPr lang="ko-KR" altLang="en-US" dirty="0"/>
              <a:t>감소 사례 보고됨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AI </a:t>
            </a:r>
            <a:r>
              <a:rPr lang="ko-KR" altLang="en-US" dirty="0"/>
              <a:t>기반 불량 검사</a:t>
            </a:r>
            <a:r>
              <a:rPr lang="en-US" altLang="ko-KR" dirty="0"/>
              <a:t>:</a:t>
            </a:r>
            <a:r>
              <a:rPr lang="ko-KR" altLang="en-US" dirty="0"/>
              <a:t> 고화질 이미지나 영상처리 </a:t>
            </a:r>
            <a:r>
              <a:rPr lang="en-US" altLang="ko-KR" dirty="0"/>
              <a:t>AI</a:t>
            </a:r>
            <a:r>
              <a:rPr lang="ko-KR" altLang="en-US" dirty="0"/>
              <a:t>가 미세한 제품 불량을 사람의 눈보다 훨씬 빠르고 정확하게 검출하여 검사 정확도를 높이고 품질을 향상시킵니다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탄소 저감 및 </a:t>
            </a:r>
            <a:r>
              <a:rPr lang="en-US" altLang="ko-KR" dirty="0" err="1"/>
              <a:t>ESG</a:t>
            </a:r>
            <a:r>
              <a:rPr lang="en-US" altLang="ko-KR" dirty="0"/>
              <a:t> </a:t>
            </a:r>
            <a:r>
              <a:rPr lang="ko-KR" altLang="en-US" dirty="0"/>
              <a:t>대응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를 통해 생산 공정에서의 에너지 사용량</a:t>
            </a:r>
            <a:r>
              <a:rPr lang="en-US" altLang="ko-KR" dirty="0"/>
              <a:t>, </a:t>
            </a:r>
            <a:r>
              <a:rPr lang="ko-KR" altLang="en-US" dirty="0"/>
              <a:t>오염물질 배출량 등을 실시간으로 관리하고 최적의 탄소 저감 방안을 도출합니다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51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901F-0F42-074C-0C0A-2E97AD01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014D4-0CB3-C7C4-615A-D856F076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의 적용 사례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B2186-9F9C-18E3-1243-9B64973F1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유통</a:t>
            </a:r>
            <a:r>
              <a:rPr lang="en-US" altLang="ko-KR" dirty="0"/>
              <a:t>/</a:t>
            </a:r>
            <a:r>
              <a:rPr lang="ko-KR" altLang="en-US" dirty="0"/>
              <a:t>커머스 분야 </a:t>
            </a:r>
            <a:r>
              <a:rPr lang="en-US" altLang="ko-KR" dirty="0"/>
              <a:t>(Retail &amp; Commerce)</a:t>
            </a:r>
          </a:p>
          <a:p>
            <a:pPr lvl="1"/>
            <a:r>
              <a:rPr lang="ko-KR" altLang="en-US" dirty="0"/>
              <a:t>소비자 경험을 초개인화하고 공급망 효율을 높이는 데 </a:t>
            </a:r>
            <a:r>
              <a:rPr lang="en-US" altLang="ko-KR" dirty="0"/>
              <a:t>AI</a:t>
            </a:r>
            <a:r>
              <a:rPr lang="ko-KR" altLang="en-US" dirty="0"/>
              <a:t>가 활용됩니다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수요 예측 및 재고 관리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과거 판매 데이터</a:t>
            </a:r>
            <a:r>
              <a:rPr lang="en-US" altLang="ko-KR" dirty="0"/>
              <a:t>, </a:t>
            </a:r>
            <a:r>
              <a:rPr lang="ko-KR" altLang="en-US" dirty="0"/>
              <a:t>계절성</a:t>
            </a:r>
            <a:r>
              <a:rPr lang="en-US" altLang="ko-KR" dirty="0"/>
              <a:t>, 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소셜 미디어 트렌드 등을 종합 분석하여 제품별 정확한 수요를 예측합니다</a:t>
            </a:r>
            <a:r>
              <a:rPr lang="en-US" altLang="ko-KR" dirty="0"/>
              <a:t>. </a:t>
            </a:r>
            <a:r>
              <a:rPr lang="ko-KR" altLang="en-US" dirty="0"/>
              <a:t>이를 통해 과잉 재고와 품절을 최소화합니다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협상 자동화 </a:t>
            </a:r>
            <a:r>
              <a:rPr lang="en-US" altLang="ko-KR" dirty="0"/>
              <a:t>(</a:t>
            </a:r>
            <a:r>
              <a:rPr lang="ko-KR" altLang="en-US" dirty="0"/>
              <a:t>월마트 사례</a:t>
            </a:r>
            <a:r>
              <a:rPr lang="en-US" altLang="ko-KR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시스템이 납품업체와의 가격</a:t>
            </a:r>
            <a:r>
              <a:rPr lang="en-US" altLang="ko-KR" dirty="0"/>
              <a:t>, </a:t>
            </a:r>
            <a:r>
              <a:rPr lang="ko-KR" altLang="en-US" dirty="0"/>
              <a:t>수량</a:t>
            </a:r>
            <a:r>
              <a:rPr lang="en-US" altLang="ko-KR" dirty="0"/>
              <a:t>, </a:t>
            </a:r>
            <a:r>
              <a:rPr lang="ko-KR" altLang="en-US" dirty="0"/>
              <a:t>납기 등을 자동으로 협상하여 구매 효율성을 극대화합니다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오프라인 공간 효율화</a:t>
            </a:r>
            <a:r>
              <a:rPr lang="en-US" altLang="ko-KR" dirty="0"/>
              <a:t>:</a:t>
            </a:r>
            <a:r>
              <a:rPr lang="ko-KR" altLang="en-US" dirty="0"/>
              <a:t> 매장 내 </a:t>
            </a:r>
            <a:r>
              <a:rPr lang="en-US" altLang="ko-KR" dirty="0"/>
              <a:t>CCTV </a:t>
            </a:r>
            <a:r>
              <a:rPr lang="ko-KR" altLang="en-US" dirty="0"/>
              <a:t>데이터를 </a:t>
            </a:r>
            <a:r>
              <a:rPr lang="en-US" altLang="ko-KR" dirty="0"/>
              <a:t>AI</a:t>
            </a:r>
            <a:r>
              <a:rPr lang="ko-KR" altLang="en-US" dirty="0"/>
              <a:t>가 분석하여 방문객의 연령대</a:t>
            </a:r>
            <a:r>
              <a:rPr lang="en-US" altLang="ko-KR" dirty="0"/>
              <a:t>, </a:t>
            </a:r>
            <a:r>
              <a:rPr lang="ko-KR" altLang="en-US" dirty="0"/>
              <a:t>체류 시간</a:t>
            </a:r>
            <a:r>
              <a:rPr lang="en-US" altLang="ko-KR" dirty="0"/>
              <a:t>, </a:t>
            </a:r>
            <a:r>
              <a:rPr lang="ko-KR" altLang="en-US" dirty="0"/>
              <a:t>이동 경로 등을 파악하고</a:t>
            </a:r>
            <a:r>
              <a:rPr lang="en-US" altLang="ko-KR" dirty="0"/>
              <a:t>, </a:t>
            </a:r>
            <a:r>
              <a:rPr lang="ko-KR" altLang="en-US" dirty="0"/>
              <a:t>이를 기반으로 상품 진열</a:t>
            </a:r>
            <a:r>
              <a:rPr lang="en-US" altLang="ko-KR" dirty="0"/>
              <a:t>, </a:t>
            </a:r>
            <a:r>
              <a:rPr lang="ko-KR" altLang="en-US" dirty="0"/>
              <a:t>매장 광고 전략 등을 최적화합니다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37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3232-B93E-861E-5195-088F6D7F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4F1FA-C210-3701-9AF7-47392771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의 적용 사례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FAB6BC-A0B5-D371-825A-1D6673E66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마케팅</a:t>
            </a:r>
            <a:r>
              <a:rPr lang="en-US" altLang="ko-KR" dirty="0"/>
              <a:t>/</a:t>
            </a:r>
            <a:r>
              <a:rPr lang="ko-KR" altLang="en-US" dirty="0"/>
              <a:t>뷰티 분야 </a:t>
            </a:r>
            <a:r>
              <a:rPr lang="en-US" altLang="ko-KR" dirty="0"/>
              <a:t>(Marketing &amp; Beauty Tech)</a:t>
            </a:r>
          </a:p>
          <a:p>
            <a:pPr lvl="1"/>
            <a:r>
              <a:rPr lang="ko-KR" altLang="en-US" dirty="0"/>
              <a:t>고객과의 소통과 맞춤형 서비스 제공의 질을 높입니다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초개인화된</a:t>
            </a:r>
            <a:r>
              <a:rPr lang="ko-KR" altLang="en-US" dirty="0"/>
              <a:t> 뷰티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로레알</a:t>
            </a:r>
            <a:r>
              <a:rPr lang="ko-KR" altLang="en-US" dirty="0"/>
              <a:t> 사례</a:t>
            </a:r>
            <a:r>
              <a:rPr lang="en-US" altLang="ko-KR" dirty="0"/>
              <a:t>) </a:t>
            </a:r>
            <a:r>
              <a:rPr lang="ko-KR" altLang="en-US" dirty="0"/>
              <a:t>고객의 피부 상태</a:t>
            </a:r>
            <a:r>
              <a:rPr lang="en-US" altLang="ko-KR" dirty="0"/>
              <a:t>, </a:t>
            </a:r>
            <a:r>
              <a:rPr lang="ko-KR" altLang="en-US" dirty="0"/>
              <a:t>선호도</a:t>
            </a:r>
            <a:r>
              <a:rPr lang="en-US" altLang="ko-KR" dirty="0"/>
              <a:t>, </a:t>
            </a:r>
            <a:r>
              <a:rPr lang="ko-KR" altLang="en-US" dirty="0"/>
              <a:t>심지어 모발 상태를 </a:t>
            </a:r>
            <a:r>
              <a:rPr lang="en-US" altLang="ko-KR" dirty="0"/>
              <a:t>AI</a:t>
            </a:r>
            <a:r>
              <a:rPr lang="ko-KR" altLang="en-US" dirty="0"/>
              <a:t>로 분석하여 가장 적합한 화장품을 추천하거나</a:t>
            </a:r>
            <a:r>
              <a:rPr lang="en-US" altLang="ko-KR" dirty="0"/>
              <a:t>, </a:t>
            </a:r>
            <a:r>
              <a:rPr lang="ko-KR" altLang="en-US" dirty="0"/>
              <a:t>아예 맞춤형 </a:t>
            </a:r>
            <a:r>
              <a:rPr lang="ko-KR" altLang="en-US" dirty="0" err="1"/>
              <a:t>포뮬러를</a:t>
            </a:r>
            <a:r>
              <a:rPr lang="ko-KR" altLang="en-US" dirty="0"/>
              <a:t> 즉석에서 제조하는 서비스를 제공합니다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AI </a:t>
            </a:r>
            <a:r>
              <a:rPr lang="ko-KR" altLang="en-US" dirty="0"/>
              <a:t>기반 고객 상담 </a:t>
            </a:r>
            <a:r>
              <a:rPr lang="en-US" altLang="ko-KR" dirty="0"/>
              <a:t>(</a:t>
            </a:r>
            <a:r>
              <a:rPr lang="ko-KR" altLang="en-US" dirty="0" err="1"/>
              <a:t>유니레버</a:t>
            </a:r>
            <a:r>
              <a:rPr lang="ko-KR" altLang="en-US" dirty="0"/>
              <a:t> 사례</a:t>
            </a:r>
            <a:r>
              <a:rPr lang="en-US" altLang="ko-KR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 err="1"/>
              <a:t>챗봇과</a:t>
            </a:r>
            <a:r>
              <a:rPr lang="ko-KR" altLang="en-US" dirty="0"/>
              <a:t> 자동화 시스템이 고객의 질문에 즉각적으로 응대하고</a:t>
            </a:r>
            <a:r>
              <a:rPr lang="en-US" altLang="ko-KR" dirty="0"/>
              <a:t>, </a:t>
            </a:r>
            <a:r>
              <a:rPr lang="ko-KR" altLang="en-US" dirty="0"/>
              <a:t>복잡한 문의는 상담원에게 연결하기 전에 </a:t>
            </a:r>
            <a:r>
              <a:rPr lang="en-US" altLang="ko-KR" dirty="0"/>
              <a:t>AI</a:t>
            </a:r>
            <a:r>
              <a:rPr lang="ko-KR" altLang="en-US" dirty="0"/>
              <a:t>가 정보를 미리 분석하여 상담 효율성을 극대화합니다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광고 및 미디어 최적화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광고 시청률을 분석하여 관객의 흥미를 유발할 맞춤형 광고 콘텐츠를 기획하고 송출하여 마케팅 성과를 </a:t>
            </a:r>
            <a:r>
              <a:rPr lang="ko-KR" altLang="en-US" dirty="0" err="1"/>
              <a:t>고도화합니다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15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65C6-B703-1D4A-8CF1-619AF10F3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3986D-A845-1B5E-E351-7085DEAD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</a:t>
            </a:r>
            <a:r>
              <a:rPr lang="ko-KR" altLang="en-US" dirty="0"/>
              <a:t>의 적용 사례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1E9AA-ABA8-2718-3F9B-A9661648B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금융</a:t>
            </a:r>
            <a:r>
              <a:rPr lang="en-US" altLang="ko-KR" dirty="0"/>
              <a:t>/</a:t>
            </a:r>
            <a:r>
              <a:rPr lang="ko-KR" altLang="en-US" dirty="0"/>
              <a:t>의료 분야 </a:t>
            </a:r>
            <a:r>
              <a:rPr lang="en-US" altLang="ko-KR" dirty="0"/>
              <a:t>(Finance &amp; Healthcare)</a:t>
            </a:r>
          </a:p>
          <a:p>
            <a:pPr lvl="1"/>
            <a:r>
              <a:rPr lang="ko-KR" altLang="en-US" dirty="0"/>
              <a:t>고위험 분야에서의 판단을 지원하고 새로운 가치를 창출합니다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금융 리스크 관리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방대한 거래 패턴 데이터를 실시간으로 감시하여 이상 거래나 부정 행위</a:t>
            </a:r>
            <a:r>
              <a:rPr lang="en-US" altLang="ko-KR" dirty="0"/>
              <a:t>(FDS)</a:t>
            </a:r>
            <a:r>
              <a:rPr lang="ko-KR" altLang="en-US" dirty="0"/>
              <a:t>를 즉시 탐지하고</a:t>
            </a:r>
            <a:r>
              <a:rPr lang="en-US" altLang="ko-KR" dirty="0"/>
              <a:t>, </a:t>
            </a:r>
            <a:r>
              <a:rPr lang="ko-KR" altLang="en-US" dirty="0"/>
              <a:t>신용 평가 모델의 정확도를 높여 대출 리스크를 관리합니다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의료 진단 및 신약 개발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의료 영상</a:t>
            </a:r>
            <a:r>
              <a:rPr lang="en-US" altLang="ko-KR" dirty="0"/>
              <a:t>(MRI, X-ray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분석하여 질병을 조기에 진단하고</a:t>
            </a:r>
            <a:r>
              <a:rPr lang="en-US" altLang="ko-KR" dirty="0"/>
              <a:t>, </a:t>
            </a:r>
            <a:r>
              <a:rPr lang="ko-KR" altLang="en-US" dirty="0"/>
              <a:t>수많은 화합물 데이터 속에서 신약 후보 물질을 빠르게 탐색하여 개발 기간과 비용을 획기적으로 단축시킵니다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AX</a:t>
            </a:r>
            <a:r>
              <a:rPr lang="ko-KR" altLang="en-US" dirty="0"/>
              <a:t>는 이처럼 단순히 </a:t>
            </a:r>
            <a:r>
              <a:rPr lang="en-US" altLang="ko-KR" dirty="0"/>
              <a:t>'</a:t>
            </a:r>
            <a:r>
              <a:rPr lang="ko-KR" altLang="en-US" dirty="0"/>
              <a:t>일부 업무 자동화</a:t>
            </a:r>
            <a:r>
              <a:rPr lang="en-US" altLang="ko-KR" dirty="0"/>
              <a:t>'</a:t>
            </a:r>
            <a:r>
              <a:rPr lang="ko-KR" altLang="en-US" dirty="0"/>
              <a:t>를 넘어</a:t>
            </a:r>
            <a:r>
              <a:rPr lang="en-US" altLang="ko-KR" dirty="0"/>
              <a:t>, </a:t>
            </a:r>
            <a:r>
              <a:rPr lang="ko-KR" altLang="en-US" dirty="0"/>
              <a:t>기업의 근본적인 경쟁력과 비즈니스 모델을 재정의하는 핵심 동력으로 작용하고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71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815F4-4C79-9001-157C-AA3EF38A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AX </a:t>
            </a:r>
            <a:r>
              <a:rPr lang="ko-KR" altLang="en-US" dirty="0"/>
              <a:t>시대에서 위험사업분야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1651E-36EF-5307-D0E7-80A9A6A70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AI</a:t>
            </a:r>
            <a:r>
              <a:rPr lang="ko-KR" altLang="en-US" b="0" dirty="0"/>
              <a:t>를 통해 위험을 관리</a:t>
            </a:r>
            <a:r>
              <a:rPr lang="en-US" altLang="ko-KR" b="0" dirty="0"/>
              <a:t>/</a:t>
            </a:r>
            <a:r>
              <a:rPr lang="ko-KR" altLang="en-US" b="0" dirty="0"/>
              <a:t>저감하는 분야</a:t>
            </a:r>
            <a:r>
              <a:rPr lang="en-US" altLang="ko-KR" b="0" dirty="0"/>
              <a:t>: </a:t>
            </a:r>
            <a:r>
              <a:rPr lang="ko-KR" altLang="en-US" b="0" dirty="0"/>
              <a:t>본질적으로 위험도가 높은 산업이지만</a:t>
            </a:r>
            <a:r>
              <a:rPr lang="en-US" altLang="ko-KR" b="0" dirty="0"/>
              <a:t>, AI </a:t>
            </a:r>
            <a:r>
              <a:rPr lang="ko-KR" altLang="en-US" b="0" dirty="0"/>
              <a:t>도입으로 사고나 리스크를 줄이는 분야</a:t>
            </a:r>
            <a:r>
              <a:rPr lang="en-US" altLang="ko-KR" b="0" dirty="0"/>
              <a:t>.</a:t>
            </a:r>
          </a:p>
          <a:p>
            <a:r>
              <a:rPr lang="en-US" altLang="ko-KR" b="0" dirty="0"/>
              <a:t>AI </a:t>
            </a:r>
            <a:r>
              <a:rPr lang="ko-KR" altLang="en-US" b="0" dirty="0"/>
              <a:t>도입 자체가 큰 위험을 초래할 수 있는 분야</a:t>
            </a:r>
            <a:r>
              <a:rPr lang="en-US" altLang="ko-KR" b="0" dirty="0"/>
              <a:t>: AI </a:t>
            </a:r>
            <a:r>
              <a:rPr lang="ko-KR" altLang="en-US" b="0" dirty="0"/>
              <a:t>시스템의 오작동</a:t>
            </a:r>
            <a:r>
              <a:rPr lang="en-US" altLang="ko-KR" b="0" dirty="0"/>
              <a:t>, </a:t>
            </a:r>
            <a:r>
              <a:rPr lang="ko-KR" altLang="en-US" b="0" dirty="0"/>
              <a:t>윤리적 문제</a:t>
            </a:r>
            <a:r>
              <a:rPr lang="en-US" altLang="ko-KR" b="0" dirty="0"/>
              <a:t>, </a:t>
            </a:r>
            <a:r>
              <a:rPr lang="ko-KR" altLang="en-US" b="0" dirty="0"/>
              <a:t>혹은 규제 리스크가 큰 분야</a:t>
            </a:r>
            <a:r>
              <a:rPr lang="en-US" altLang="ko-KR" b="0" dirty="0"/>
              <a:t>.</a:t>
            </a:r>
          </a:p>
          <a:p>
            <a:r>
              <a:rPr lang="en-US" altLang="ko-KR" dirty="0"/>
              <a:t>AX </a:t>
            </a:r>
            <a:r>
              <a:rPr lang="ko-KR" altLang="en-US" dirty="0"/>
              <a:t>시대의 위험사업분야는 </a:t>
            </a:r>
            <a:r>
              <a:rPr lang="en-US" altLang="ko-KR" dirty="0"/>
              <a:t>AI</a:t>
            </a:r>
            <a:r>
              <a:rPr lang="ko-KR" altLang="en-US" dirty="0"/>
              <a:t>의 힘으로 관리해야 할 물리적인 위험과 </a:t>
            </a:r>
            <a:r>
              <a:rPr lang="en-US" altLang="ko-KR" dirty="0"/>
              <a:t>AI</a:t>
            </a:r>
            <a:r>
              <a:rPr lang="ko-KR" altLang="en-US" dirty="0"/>
              <a:t>를 도입하면서 새롭게 관리해야 할 디지털 및 윤리적 위험의 두 가지 축으로 접근해야 합니다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공공 및 국가 중요 시설에 대한 </a:t>
            </a:r>
            <a:r>
              <a:rPr lang="en-US" altLang="ko-KR" dirty="0"/>
              <a:t>AI </a:t>
            </a:r>
            <a:r>
              <a:rPr lang="ko-KR" altLang="en-US" dirty="0"/>
              <a:t>도입은 고위험 취약점 관리체계 구축과 함께 진행되어야 합니다</a:t>
            </a:r>
            <a:r>
              <a:rPr lang="en-US" altLang="ko-KR" dirty="0"/>
              <a:t>.</a:t>
            </a:r>
            <a:endParaRPr lang="en-US" altLang="ko-KR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704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651C0-950D-3D65-82DB-4EEF6605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를 통해 위험을 관리</a:t>
            </a:r>
            <a:r>
              <a:rPr lang="en-US" altLang="ko-KR" dirty="0"/>
              <a:t>/</a:t>
            </a:r>
            <a:r>
              <a:rPr lang="ko-KR" altLang="en-US" dirty="0"/>
              <a:t>저감하는 </a:t>
            </a:r>
            <a:r>
              <a:rPr lang="en-US" altLang="ko-KR" dirty="0"/>
              <a:t>(</a:t>
            </a:r>
            <a:r>
              <a:rPr lang="ko-KR" altLang="en-US" dirty="0"/>
              <a:t>고위험</a:t>
            </a:r>
            <a:r>
              <a:rPr lang="en-US" altLang="ko-KR" dirty="0"/>
              <a:t>) </a:t>
            </a:r>
            <a:r>
              <a:rPr lang="ko-KR" altLang="en-US" dirty="0"/>
              <a:t>산업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34D8C9A-EBD9-C4D2-E64C-BD3118AE4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336154"/>
              </p:ext>
            </p:extLst>
          </p:nvPr>
        </p:nvGraphicFramePr>
        <p:xfrm>
          <a:off x="838200" y="1087438"/>
          <a:ext cx="10515597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798">
                  <a:extLst>
                    <a:ext uri="{9D8B030D-6E8A-4147-A177-3AD203B41FA5}">
                      <a16:colId xmlns:a16="http://schemas.microsoft.com/office/drawing/2014/main" val="1632684683"/>
                    </a:ext>
                  </a:extLst>
                </a:gridCol>
                <a:gridCol w="2280491">
                  <a:extLst>
                    <a:ext uri="{9D8B030D-6E8A-4147-A177-3AD203B41FA5}">
                      <a16:colId xmlns:a16="http://schemas.microsoft.com/office/drawing/2014/main" val="2486369302"/>
                    </a:ext>
                  </a:extLst>
                </a:gridCol>
                <a:gridCol w="6462308">
                  <a:extLst>
                    <a:ext uri="{9D8B030D-6E8A-4147-A177-3AD203B41FA5}">
                      <a16:colId xmlns:a16="http://schemas.microsoft.com/office/drawing/2014/main" val="492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분야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고위험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를 통한 </a:t>
                      </a:r>
                      <a:r>
                        <a:rPr lang="en-US" altLang="ko-KR"/>
                        <a:t>AX </a:t>
                      </a:r>
                      <a:r>
                        <a:rPr lang="ko-KR" altLang="en-US"/>
                        <a:t>적용 사례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189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산업 안전 </a:t>
                      </a:r>
                      <a:r>
                        <a:rPr lang="en-US" altLang="ko-KR" b="1"/>
                        <a:t>(</a:t>
                      </a:r>
                      <a:r>
                        <a:rPr lang="ko-KR" altLang="en-US" b="1"/>
                        <a:t>제조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건설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추락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끼임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유독물질 노출 등 인명 사고 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AI </a:t>
                      </a:r>
                      <a:r>
                        <a:rPr lang="ko-KR" altLang="en-US" b="1"/>
                        <a:t>기반 </a:t>
                      </a:r>
                      <a:r>
                        <a:rPr lang="en-US" altLang="ko-KR" b="1"/>
                        <a:t>SHE(</a:t>
                      </a:r>
                      <a:r>
                        <a:rPr lang="ko-KR" altLang="en-US" b="1"/>
                        <a:t>안전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보건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환경</a:t>
                      </a:r>
                      <a:r>
                        <a:rPr lang="en-US" altLang="ko-KR" b="1"/>
                        <a:t>):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CCTV </a:t>
                      </a:r>
                      <a:r>
                        <a:rPr lang="ko-KR" altLang="en-US"/>
                        <a:t>영상 분석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가 작업자의 위험 행동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안전모 미착용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금지 구역 침입 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을 실시간 감지하여 경고하고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 b="1"/>
                        <a:t>산재 위험이 높은 사업장</a:t>
                      </a:r>
                      <a:r>
                        <a:rPr lang="ko-KR" altLang="en-US"/>
                        <a:t>을 미리 선별하여 감독 자원 효율화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06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에너지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플랜트 </a:t>
                      </a:r>
                      <a:r>
                        <a:rPr lang="en-US" altLang="ko-KR" b="1"/>
                        <a:t>(</a:t>
                      </a:r>
                      <a:r>
                        <a:rPr lang="ko-KR" altLang="en-US" b="1"/>
                        <a:t>원전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화학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방사선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고열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유독가스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설비 폭발 등 재난 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고위험 환경 로봇 및 점검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원전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석유화학 플랜트 등 사람이 접근하기 어려운 곳에 </a:t>
                      </a:r>
                      <a:r>
                        <a:rPr lang="en-US" altLang="ko-KR"/>
                        <a:t>AI </a:t>
                      </a:r>
                      <a:r>
                        <a:rPr lang="ko-KR" altLang="en-US"/>
                        <a:t>기반 </a:t>
                      </a:r>
                      <a:r>
                        <a:rPr lang="ko-KR" altLang="en-US" b="1"/>
                        <a:t>점검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밸브 제어 로봇</a:t>
                      </a:r>
                      <a:r>
                        <a:rPr lang="ko-KR" altLang="en-US"/>
                        <a:t>을 투입하여 설비 유지보수 및 점검을 자율적으로 수행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67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교통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운송 </a:t>
                      </a:r>
                      <a:r>
                        <a:rPr lang="en-US" altLang="ko-KR" b="1"/>
                        <a:t>(</a:t>
                      </a:r>
                      <a:r>
                        <a:rPr lang="ko-KR" altLang="en-US" b="1"/>
                        <a:t>철도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항공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대형 교통사고 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AI </a:t>
                      </a:r>
                      <a:r>
                        <a:rPr lang="ko-KR" altLang="en-US" b="1"/>
                        <a:t>기반 운행 안전 시스템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과거 사고 이력을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가 학습하여 철도 운행 중 잠재적인 위험 요소를 사전에 분석하고 감사 사각지대를 줄이는 시스템 도입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코레일 </a:t>
                      </a:r>
                      <a:r>
                        <a:rPr lang="en-US" altLang="ko-KR"/>
                        <a:t>'Audit AX').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415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물류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창고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무거운 물품 이송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반복 작업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작업자 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자율 물류 로봇 </a:t>
                      </a:r>
                      <a:r>
                        <a:rPr lang="en-US" altLang="ko-KR" b="1"/>
                        <a:t>(AMR/AGV):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가 생산 흐름을 분석해 물류 동선을 스스로 조정하고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반복적이고 고위험 작업인 이적재 등을 로봇이 수행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103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금융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FDS)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사기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횡령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자금 세탁 등 막대한 재산 피해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이상 거래 탐지 시스템 </a:t>
                      </a:r>
                      <a:r>
                        <a:rPr lang="en-US" altLang="ko-KR" b="1" dirty="0"/>
                        <a:t>(FDS):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가 비정상적인 거래 패턴을 실시간으로 탐지하여 금융 사기를 즉각적으로 예방하고 차단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495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25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717B4-184F-C406-7C23-CECEC1DE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도입 및 활용으로 새로운 위험이 발생하는 분야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6196679-403A-0E4C-B8DE-94453980A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555639"/>
              </p:ext>
            </p:extLst>
          </p:nvPr>
        </p:nvGraphicFramePr>
        <p:xfrm>
          <a:off x="838200" y="1087438"/>
          <a:ext cx="10515597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571">
                  <a:extLst>
                    <a:ext uri="{9D8B030D-6E8A-4147-A177-3AD203B41FA5}">
                      <a16:colId xmlns:a16="http://schemas.microsoft.com/office/drawing/2014/main" val="2106805505"/>
                    </a:ext>
                  </a:extLst>
                </a:gridCol>
                <a:gridCol w="3850395">
                  <a:extLst>
                    <a:ext uri="{9D8B030D-6E8A-4147-A177-3AD203B41FA5}">
                      <a16:colId xmlns:a16="http://schemas.microsoft.com/office/drawing/2014/main" val="1878071838"/>
                    </a:ext>
                  </a:extLst>
                </a:gridCol>
                <a:gridCol w="4060631">
                  <a:extLst>
                    <a:ext uri="{9D8B030D-6E8A-4147-A177-3AD203B41FA5}">
                      <a16:colId xmlns:a16="http://schemas.microsoft.com/office/drawing/2014/main" val="2851379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위험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고위험 </a:t>
                      </a:r>
                      <a:r>
                        <a:rPr lang="en-US" altLang="ko-KR"/>
                        <a:t>AX </a:t>
                      </a:r>
                      <a:r>
                        <a:rPr lang="ko-KR" altLang="en-US"/>
                        <a:t>사업 분야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11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윤리 및 공정성 위험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의 편향된 학습 데이터로 인해 차별적인 결과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인종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성별 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초래하거나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불투명한 의사결정으로 인해 사회적 갈등 유발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채용 </a:t>
                      </a:r>
                      <a:r>
                        <a:rPr lang="en-US" altLang="ko-KR" b="1"/>
                        <a:t>AI, </a:t>
                      </a:r>
                      <a:r>
                        <a:rPr lang="ko-KR" altLang="en-US" b="1"/>
                        <a:t>대출 심사 </a:t>
                      </a:r>
                      <a:r>
                        <a:rPr lang="en-US" altLang="ko-KR" b="1"/>
                        <a:t>AI, </a:t>
                      </a:r>
                      <a:r>
                        <a:rPr lang="ko-KR" altLang="en-US" b="1"/>
                        <a:t>사법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복지 </a:t>
                      </a:r>
                      <a:r>
                        <a:rPr lang="en-US" altLang="ko-KR" b="1"/>
                        <a:t>AI</a:t>
                      </a:r>
                      <a:r>
                        <a:rPr lang="ko-KR" altLang="en-US"/>
                        <a:t> 등 개인의 삶에 중대한 영향을 미치는 분야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93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보안 및 조작 위험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AI </a:t>
                      </a:r>
                      <a:r>
                        <a:rPr lang="ko-KR" altLang="en-US"/>
                        <a:t>시스템 자체가 해킹되거나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생성형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를 통한 가짜 정보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딥페이크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확산으로 사회적 혼란 야기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국가 중요 시설 보호 시스템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사이버 침해 대응 시스템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언론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미디어 분야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(AI </a:t>
                      </a:r>
                      <a:r>
                        <a:rPr lang="ko-KR" altLang="en-US"/>
                        <a:t>대전환에 따른 디지털 위험 증가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81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안전성 및 책임 소재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자율주행차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 진단 </a:t>
                      </a:r>
                      <a:r>
                        <a:rPr lang="en-US" altLang="ko-KR"/>
                        <a:t>AI </a:t>
                      </a:r>
                      <a:r>
                        <a:rPr lang="ko-KR" altLang="en-US"/>
                        <a:t>등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의 판단 오류가 직접적인 인명 피해나 법적 문제로 이어질 수 있는 분야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자율주행 모빌리티</a:t>
                      </a:r>
                      <a:r>
                        <a:rPr lang="en-US" altLang="ko-KR" b="1"/>
                        <a:t>, </a:t>
                      </a:r>
                      <a:r>
                        <a:rPr lang="ko-KR" altLang="en-US" b="1"/>
                        <a:t>수술 보조 로봇</a:t>
                      </a:r>
                      <a:r>
                        <a:rPr lang="en-US" altLang="ko-KR" b="1"/>
                        <a:t>, AI </a:t>
                      </a:r>
                      <a:r>
                        <a:rPr lang="ko-KR" altLang="en-US" b="1"/>
                        <a:t>기반 의료 진단 시스템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(AI</a:t>
                      </a:r>
                      <a:r>
                        <a:rPr lang="ko-KR" altLang="en-US"/>
                        <a:t>의 오작동 및 책임 소재 불분명 위험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5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일자리 및 사회 구조 변화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AI</a:t>
                      </a:r>
                      <a:r>
                        <a:rPr lang="ko-KR" altLang="en-US"/>
                        <a:t>에 의한 대규모 일자리 대체 및 경제적 불평등 심화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콜센터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단순 사무직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창고 관리</a:t>
                      </a:r>
                      <a:r>
                        <a:rPr lang="ko-KR" altLang="en-US" dirty="0"/>
                        <a:t> 등 자동화 효율이 높은 분야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365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69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4BD86-D902-E35A-EFA3-279C8852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BFBE0-820B-EE88-8648-F05E1488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(Machine Learning, ML)</a:t>
            </a:r>
          </a:p>
          <a:p>
            <a:pPr lvl="1"/>
            <a:r>
              <a:rPr lang="ko-KR" altLang="en-US" dirty="0" err="1"/>
              <a:t>머신러닝은</a:t>
            </a:r>
            <a:r>
              <a:rPr lang="ko-KR" altLang="en-US" dirty="0"/>
              <a:t> 데이터를 기반으로 학습하여 특정 작업을 수행하는 방법을 스스로 개선하는 </a:t>
            </a:r>
            <a:r>
              <a:rPr lang="en-US" altLang="ko-KR" dirty="0"/>
              <a:t>AI</a:t>
            </a:r>
            <a:r>
              <a:rPr lang="ko-KR" altLang="en-US" dirty="0"/>
              <a:t>의 핵심 분야입니다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지도 학습 </a:t>
            </a:r>
            <a:r>
              <a:rPr lang="en-US" altLang="ko-KR" dirty="0"/>
              <a:t>(Supervised Learning):</a:t>
            </a:r>
            <a:r>
              <a:rPr lang="ko-KR" altLang="en-US" dirty="0"/>
              <a:t> 정답</a:t>
            </a:r>
            <a:r>
              <a:rPr lang="en-US" altLang="ko-KR" dirty="0"/>
              <a:t>(</a:t>
            </a:r>
            <a:r>
              <a:rPr lang="ko-KR" altLang="en-US" dirty="0"/>
              <a:t>레이블</a:t>
            </a:r>
            <a:r>
              <a:rPr lang="en-US" altLang="ko-KR" dirty="0"/>
              <a:t>)</a:t>
            </a:r>
            <a:r>
              <a:rPr lang="ko-KR" altLang="en-US" dirty="0"/>
              <a:t>이 지정된 데이터를 학습하여 새로운 데이터에 대한 결과를 예측합니다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스팸 메일 분류</a:t>
            </a:r>
            <a:r>
              <a:rPr lang="en-US" altLang="ko-KR" dirty="0"/>
              <a:t>, </a:t>
            </a:r>
            <a:r>
              <a:rPr lang="ko-KR" altLang="en-US" dirty="0"/>
              <a:t>주택 가격 예측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비지도 학습 </a:t>
            </a:r>
            <a:r>
              <a:rPr lang="en-US" altLang="ko-KR" dirty="0"/>
              <a:t>(Unsupervised Learning):</a:t>
            </a:r>
            <a:r>
              <a:rPr lang="ko-KR" altLang="en-US" dirty="0"/>
              <a:t> 정답이 없는 데이터에서 숨겨진 패턴이나 구조를 스스로 찾아냅니다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고객 세분화</a:t>
            </a:r>
            <a:r>
              <a:rPr lang="en-US" altLang="ko-KR" dirty="0"/>
              <a:t>/</a:t>
            </a:r>
            <a:r>
              <a:rPr lang="ko-KR" altLang="en-US" dirty="0"/>
              <a:t>군집화</a:t>
            </a:r>
            <a:r>
              <a:rPr lang="en-US" altLang="ko-KR" dirty="0"/>
              <a:t>, </a:t>
            </a:r>
            <a:r>
              <a:rPr lang="ko-KR" altLang="en-US" dirty="0"/>
              <a:t>데이터 압축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강화 학습 </a:t>
            </a:r>
            <a:r>
              <a:rPr lang="en-US" altLang="ko-KR" dirty="0"/>
              <a:t>(Reinforcement Learning):</a:t>
            </a:r>
            <a:r>
              <a:rPr lang="ko-KR" altLang="en-US" dirty="0"/>
              <a:t> 시행착오를 통해 가장 좋은 보상을 받는 행동을 학습합니다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로봇 제어</a:t>
            </a:r>
            <a:r>
              <a:rPr lang="en-US" altLang="ko-KR" dirty="0"/>
              <a:t>,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게임 인공지능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05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D96A-D8F4-60FD-C9CA-E60DF19A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583B8-D7F8-4AB8-9E53-1D47846C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ECD20-6F08-3EF8-B5A3-CD80915ED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딥러닝 </a:t>
            </a:r>
            <a:r>
              <a:rPr lang="en-US" altLang="ko-KR" dirty="0"/>
              <a:t>(Deep Learning, DL)</a:t>
            </a:r>
          </a:p>
          <a:p>
            <a:r>
              <a:rPr lang="ko-KR" altLang="en-US" dirty="0" err="1"/>
              <a:t>딥러닝은</a:t>
            </a:r>
            <a:r>
              <a:rPr lang="ko-KR" altLang="en-US" dirty="0"/>
              <a:t> </a:t>
            </a:r>
            <a:r>
              <a:rPr lang="ko-KR" altLang="en-US" dirty="0" err="1"/>
              <a:t>머신러닝의</a:t>
            </a:r>
            <a:r>
              <a:rPr lang="ko-KR" altLang="en-US" dirty="0"/>
              <a:t> 한 분야로</a:t>
            </a:r>
            <a:r>
              <a:rPr lang="en-US" altLang="ko-KR" dirty="0"/>
              <a:t>, </a:t>
            </a:r>
            <a:r>
              <a:rPr lang="ko-KR" altLang="en-US" dirty="0"/>
              <a:t>인간의 뇌 신경망을 모방한 다층의 신경망</a:t>
            </a:r>
            <a:r>
              <a:rPr lang="en-US" altLang="ko-KR" dirty="0"/>
              <a:t>(Deep Neural Network) </a:t>
            </a:r>
            <a:r>
              <a:rPr lang="ko-KR" altLang="en-US" dirty="0"/>
              <a:t>을 사용하여 데이터를 학습합니다</a:t>
            </a:r>
            <a:r>
              <a:rPr lang="en-US" altLang="ko-KR" dirty="0"/>
              <a:t>. </a:t>
            </a:r>
            <a:r>
              <a:rPr lang="ko-KR" altLang="en-US" dirty="0"/>
              <a:t>데이터에서 **특징</a:t>
            </a:r>
            <a:r>
              <a:rPr lang="en-US" altLang="ko-KR" dirty="0"/>
              <a:t>(Feature)**</a:t>
            </a:r>
            <a:r>
              <a:rPr lang="ko-KR" altLang="en-US" dirty="0"/>
              <a:t>을 추출하는 작업을 </a:t>
            </a:r>
            <a:r>
              <a:rPr lang="en-US" altLang="ko-KR" dirty="0"/>
              <a:t>AI</a:t>
            </a:r>
            <a:r>
              <a:rPr lang="ko-KR" altLang="en-US" dirty="0"/>
              <a:t>가 스스로 수행하는 것이 가장 큰 특징입니다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CNN (Convolutional Neural Network):</a:t>
            </a:r>
            <a:r>
              <a:rPr lang="ko-KR" altLang="en-US" dirty="0"/>
              <a:t> 주로 이미지 및 영상 처리에 사용되며</a:t>
            </a:r>
            <a:r>
              <a:rPr lang="en-US" altLang="ko-KR" dirty="0"/>
              <a:t>, </a:t>
            </a:r>
            <a:r>
              <a:rPr lang="ko-KR" altLang="en-US" dirty="0"/>
              <a:t>이미지에서 특징을 추출하고 객체를 인식하는 데 탁월합니다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얼굴 인식</a:t>
            </a:r>
            <a:r>
              <a:rPr lang="en-US" altLang="ko-KR" dirty="0"/>
              <a:t>, </a:t>
            </a:r>
            <a:r>
              <a:rPr lang="ko-KR" altLang="en-US" dirty="0"/>
              <a:t>의료 영상 분석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RNN</a:t>
            </a:r>
            <a:r>
              <a:rPr lang="en-US" altLang="ko-KR" dirty="0"/>
              <a:t> (Recurrent Neural Network) / Transformer:</a:t>
            </a:r>
            <a:r>
              <a:rPr lang="ko-KR" altLang="en-US" dirty="0"/>
              <a:t> 시퀀스</a:t>
            </a:r>
            <a:r>
              <a:rPr lang="en-US" altLang="ko-KR" dirty="0"/>
              <a:t>(</a:t>
            </a:r>
            <a:r>
              <a:rPr lang="ko-KR" altLang="en-US" dirty="0"/>
              <a:t>순서</a:t>
            </a:r>
            <a:r>
              <a:rPr lang="en-US" altLang="ko-KR" dirty="0"/>
              <a:t>) </a:t>
            </a:r>
            <a:r>
              <a:rPr lang="ko-KR" altLang="en-US" dirty="0"/>
              <a:t>데이터 처리에 사용됩니다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RNN</a:t>
            </a:r>
            <a:r>
              <a:rPr lang="en-US" altLang="ko-KR" dirty="0"/>
              <a:t>/LSTM:</a:t>
            </a:r>
            <a:r>
              <a:rPr lang="ko-KR" altLang="en-US" dirty="0"/>
              <a:t> 문장이나 음성처럼 순서가 중요한 데이터를 처리하는 데 사용되었습니다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Transformer:</a:t>
            </a:r>
            <a:r>
              <a:rPr lang="ko-KR" altLang="en-US" dirty="0"/>
              <a:t> 병렬 처리가 가능하고 장기적인 의존성 문제를 해결하여 자연어 처리</a:t>
            </a:r>
            <a:r>
              <a:rPr lang="en-US" altLang="ko-KR" dirty="0"/>
              <a:t>(NLP) </a:t>
            </a:r>
            <a:r>
              <a:rPr lang="ko-KR" altLang="en-US" dirty="0"/>
              <a:t>분야를 혁신했으며</a:t>
            </a:r>
            <a:r>
              <a:rPr lang="en-US" altLang="ko-KR" dirty="0"/>
              <a:t>, </a:t>
            </a:r>
            <a:r>
              <a:rPr lang="ko-KR" altLang="en-US" dirty="0"/>
              <a:t>최근 </a:t>
            </a:r>
            <a:r>
              <a:rPr lang="en-US" altLang="ko-KR" dirty="0"/>
              <a:t>LLM(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의 기반 기술입니다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50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7D5C5-5F92-976F-2096-6AF68856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DCAE8-7C31-A545-3FCA-449FA2B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B4EC9-ED03-49ED-4007-F030FE8D6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(Generative AI)</a:t>
            </a:r>
          </a:p>
          <a:p>
            <a:pPr lvl="1"/>
            <a:r>
              <a:rPr lang="ko-KR" altLang="en-US" dirty="0"/>
              <a:t>새롭고 독창적인 콘텐츠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음성</a:t>
            </a:r>
            <a:r>
              <a:rPr lang="en-US" altLang="ko-KR" dirty="0"/>
              <a:t>, </a:t>
            </a:r>
            <a:r>
              <a:rPr lang="ko-KR" altLang="en-US" dirty="0"/>
              <a:t>코드 등</a:t>
            </a:r>
            <a:r>
              <a:rPr lang="en-US" altLang="ko-KR" dirty="0"/>
              <a:t>)</a:t>
            </a:r>
            <a:r>
              <a:rPr lang="ko-KR" altLang="en-US" dirty="0"/>
              <a:t>를 생성해내는 </a:t>
            </a:r>
            <a:r>
              <a:rPr lang="en-US" altLang="ko-KR" dirty="0"/>
              <a:t>AI </a:t>
            </a:r>
            <a:r>
              <a:rPr lang="ko-KR" altLang="en-US" dirty="0"/>
              <a:t>기술입니다</a:t>
            </a:r>
            <a:r>
              <a:rPr lang="en-US" altLang="ko-KR" dirty="0"/>
              <a:t>. </a:t>
            </a:r>
            <a:r>
              <a:rPr lang="ko-KR" altLang="en-US" dirty="0"/>
              <a:t>최근 </a:t>
            </a:r>
            <a:r>
              <a:rPr lang="en-US" altLang="ko-KR" dirty="0"/>
              <a:t>AI </a:t>
            </a:r>
            <a:r>
              <a:rPr lang="ko-KR" altLang="en-US" dirty="0"/>
              <a:t>전환</a:t>
            </a:r>
            <a:r>
              <a:rPr lang="en-US" altLang="ko-KR" dirty="0"/>
              <a:t>(AX) </a:t>
            </a:r>
            <a:r>
              <a:rPr lang="ko-KR" altLang="en-US" dirty="0"/>
              <a:t>시대를 이끄는 핵심 기술입니다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LLM (Large Language Model):</a:t>
            </a:r>
            <a:r>
              <a:rPr lang="ko-KR" altLang="en-US" dirty="0"/>
              <a:t> </a:t>
            </a:r>
            <a:r>
              <a:rPr lang="en-US" altLang="ko-KR" dirty="0"/>
              <a:t>Transformer</a:t>
            </a:r>
            <a:r>
              <a:rPr lang="ko-KR" altLang="en-US" dirty="0"/>
              <a:t>를 기반으로 하며</a:t>
            </a:r>
            <a:r>
              <a:rPr lang="en-US" altLang="ko-KR" dirty="0"/>
              <a:t>, </a:t>
            </a:r>
            <a:r>
              <a:rPr lang="ko-KR" altLang="en-US" dirty="0"/>
              <a:t>방대한 텍스트 데이터를 학습하여 사람처럼 자연스러운 문장을 생성</a:t>
            </a:r>
            <a:r>
              <a:rPr lang="en-US" altLang="ko-KR" dirty="0"/>
              <a:t>, </a:t>
            </a:r>
            <a:r>
              <a:rPr lang="ko-KR" altLang="en-US" dirty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번역하고 질문에 답하는 거대 언어 모델입니다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GPT</a:t>
            </a:r>
            <a:r>
              <a:rPr lang="en-US" altLang="ko-KR" dirty="0"/>
              <a:t>-4, Gemini, Claude)</a:t>
            </a:r>
          </a:p>
          <a:p>
            <a:pPr lvl="1"/>
            <a:r>
              <a:rPr lang="en-US" altLang="ko-KR" dirty="0"/>
              <a:t>Diffusion Model:</a:t>
            </a:r>
            <a:r>
              <a:rPr lang="ko-KR" altLang="en-US" dirty="0"/>
              <a:t> 노이즈</a:t>
            </a:r>
            <a:r>
              <a:rPr lang="en-US" altLang="ko-KR" dirty="0"/>
              <a:t>(</a:t>
            </a:r>
            <a:r>
              <a:rPr lang="ko-KR" altLang="en-US" dirty="0"/>
              <a:t>잡음</a:t>
            </a:r>
            <a:r>
              <a:rPr lang="en-US" altLang="ko-KR" dirty="0"/>
              <a:t>)</a:t>
            </a:r>
            <a:r>
              <a:rPr lang="ko-KR" altLang="en-US" dirty="0"/>
              <a:t>를 제거하는 방식으로 학습하여 고품질의 사실적인 이미지를 생성하는 데 주로 사용됩니다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Midjourney, Stable Diffusion)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354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BFCE1-8E22-A1AC-131E-A7252393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48F7C-E8D0-ED55-D3D5-A8DB008E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7667C-4DC5-8C48-04AB-0DC56DD00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 비전 </a:t>
            </a:r>
            <a:r>
              <a:rPr lang="en-US" altLang="ko-KR" dirty="0"/>
              <a:t>(Computer Vision)</a:t>
            </a:r>
          </a:p>
          <a:p>
            <a:pPr lvl="1"/>
            <a:r>
              <a:rPr lang="ko-KR" altLang="en-US" dirty="0"/>
              <a:t>기계가 시각적인 정보를 인지</a:t>
            </a:r>
            <a:r>
              <a:rPr lang="en-US" altLang="ko-KR" dirty="0"/>
              <a:t>, </a:t>
            </a:r>
            <a:r>
              <a:rPr lang="ko-KR" altLang="en-US" dirty="0"/>
              <a:t>처리</a:t>
            </a:r>
            <a:r>
              <a:rPr lang="en-US" altLang="ko-KR" dirty="0"/>
              <a:t>, </a:t>
            </a:r>
            <a:r>
              <a:rPr lang="ko-KR" altLang="en-US" dirty="0"/>
              <a:t>해석하고 이해할 수 있도록 하는 기술입니다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객체 탐지 및 인식 </a:t>
            </a:r>
            <a:r>
              <a:rPr lang="en-US" altLang="ko-KR" dirty="0"/>
              <a:t>(Object Detection &amp; Recognition):</a:t>
            </a:r>
            <a:r>
              <a:rPr lang="ko-KR" altLang="en-US" dirty="0"/>
              <a:t> 이미지나 영상에서 특정 물체의 위치를 파악하고 그것이 무엇인지 식별합니다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SLAM (Simultaneous Localization and Mapping):</a:t>
            </a:r>
            <a:r>
              <a:rPr lang="ko-KR" altLang="en-US" dirty="0"/>
              <a:t> 로봇이나 자율주행차가 자신의 위치를 파악하는 동시에 주변 환경의 지도를 생성하는 기술입니다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18D2-A0F8-64D9-B262-C4B8193D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FC34D-87CF-6EC8-65EF-4E2E1EDCA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자연어 처리 </a:t>
            </a:r>
            <a:r>
              <a:rPr lang="en-US" altLang="ko-KR" dirty="0"/>
              <a:t>(Natural Language Processing, NLP)</a:t>
            </a:r>
          </a:p>
          <a:p>
            <a:pPr lvl="1"/>
            <a:r>
              <a:rPr lang="ko-KR" altLang="en-US" dirty="0"/>
              <a:t>인간의 언어</a:t>
            </a:r>
            <a:r>
              <a:rPr lang="en-US" altLang="ko-KR" dirty="0"/>
              <a:t>(</a:t>
            </a:r>
            <a:r>
              <a:rPr lang="ko-KR" altLang="en-US" dirty="0"/>
              <a:t>텍스트와 음성</a:t>
            </a:r>
            <a:r>
              <a:rPr lang="en-US" altLang="ko-KR" dirty="0"/>
              <a:t>)</a:t>
            </a:r>
            <a:r>
              <a:rPr lang="ko-KR" altLang="en-US" dirty="0"/>
              <a:t>를 기계가 이해하고 생성할 수 있도록 하는 기술입니다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기계 번역 </a:t>
            </a:r>
            <a:r>
              <a:rPr lang="en-US" altLang="ko-KR" dirty="0"/>
              <a:t>(Machine Translation):</a:t>
            </a:r>
            <a:r>
              <a:rPr lang="ko-KR" altLang="en-US" dirty="0"/>
              <a:t> 한 언어를 다른 언어로 번역합니다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감성 분석 </a:t>
            </a:r>
            <a:r>
              <a:rPr lang="en-US" altLang="ko-KR" dirty="0"/>
              <a:t>(Sentiment Analysis):</a:t>
            </a:r>
            <a:r>
              <a:rPr lang="ko-KR" altLang="en-US" dirty="0"/>
              <a:t> 텍스트에 담긴 긍정</a:t>
            </a:r>
            <a:r>
              <a:rPr lang="en-US" altLang="ko-KR" dirty="0"/>
              <a:t>, </a:t>
            </a:r>
            <a:r>
              <a:rPr lang="ko-KR" altLang="en-US" dirty="0"/>
              <a:t>부정 또는 중립적인 감정을 파악합니다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음성 인식 </a:t>
            </a:r>
            <a:r>
              <a:rPr lang="en-US" altLang="ko-KR" dirty="0"/>
              <a:t>(Speech Recognition):</a:t>
            </a:r>
            <a:r>
              <a:rPr lang="ko-KR" altLang="en-US" dirty="0"/>
              <a:t> 사람의 목소리를 텍스트로 변환합니다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40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4F3B2-BD94-04AD-7907-90A88471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AI </a:t>
            </a:r>
            <a:r>
              <a:rPr lang="ko-KR" altLang="en-US" dirty="0"/>
              <a:t>기술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EEF3E-2093-4E67-CB0C-1F4E129CD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온디바이스</a:t>
            </a:r>
            <a:r>
              <a:rPr lang="ko-KR" altLang="en-US" dirty="0"/>
              <a:t> </a:t>
            </a:r>
            <a:r>
              <a:rPr lang="en-US" altLang="ko-KR" dirty="0"/>
              <a:t>AI (On-Device AI)</a:t>
            </a:r>
          </a:p>
          <a:p>
            <a:pPr lvl="1"/>
            <a:r>
              <a:rPr lang="en-US" altLang="ko-KR" dirty="0"/>
              <a:t>AI </a:t>
            </a:r>
            <a:r>
              <a:rPr lang="ko-KR" altLang="en-US" dirty="0"/>
              <a:t>연산이 클라우드 서버를 거치지 않고 사용자 기기 자체에서 직접 실행되는 기술입니다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특징</a:t>
            </a:r>
            <a:r>
              <a:rPr lang="en-US" altLang="ko-KR" dirty="0"/>
              <a:t>:</a:t>
            </a:r>
            <a:r>
              <a:rPr lang="ko-KR" altLang="en-US" dirty="0"/>
              <a:t> 낮은 지연 시간</a:t>
            </a:r>
            <a:r>
              <a:rPr lang="en-US" altLang="ko-KR" dirty="0"/>
              <a:t>, </a:t>
            </a:r>
            <a:r>
              <a:rPr lang="ko-KR" altLang="en-US" dirty="0"/>
              <a:t>외부 연결 없이 작동</a:t>
            </a:r>
            <a:r>
              <a:rPr lang="en-US" altLang="ko-KR" dirty="0"/>
              <a:t>, </a:t>
            </a:r>
            <a:r>
              <a:rPr lang="ko-KR" altLang="en-US" dirty="0"/>
              <a:t>높은 개인정보 보호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적용</a:t>
            </a:r>
            <a:r>
              <a:rPr lang="en-US" altLang="ko-KR" dirty="0"/>
              <a:t>:</a:t>
            </a:r>
            <a:r>
              <a:rPr lang="ko-KR" altLang="en-US" dirty="0"/>
              <a:t> 스마트폰의 실시간 번역</a:t>
            </a:r>
            <a:r>
              <a:rPr lang="en-US" altLang="ko-KR" dirty="0"/>
              <a:t>, </a:t>
            </a:r>
            <a:r>
              <a:rPr lang="ko-KR" altLang="en-US" dirty="0" err="1"/>
              <a:t>드론의</a:t>
            </a:r>
            <a:r>
              <a:rPr lang="ko-KR" altLang="en-US" dirty="0"/>
              <a:t> 경로 탐색</a:t>
            </a:r>
            <a:r>
              <a:rPr lang="en-US" altLang="ko-KR" dirty="0"/>
              <a:t>, </a:t>
            </a:r>
            <a:r>
              <a:rPr lang="ko-KR" altLang="en-US" dirty="0"/>
              <a:t>웨어러블 기기의 건강 데이터 분석 등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110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D027C-2B35-E501-E3E4-1F354AF0F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이란</a:t>
            </a:r>
            <a:r>
              <a:rPr lang="en-US" altLang="ko-KR" dirty="0"/>
              <a:t>? (Large Language Model)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E997E0-2265-F7DA-ABE3-9860FC797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LLM (Large Language Model, 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이란 매우 방대한 양의 텍스트 데이터를 학습하여 사람처럼 언어를 이해하고 생성할 수 있도록 훈련된 인공지능 모델을 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은 최근 </a:t>
            </a:r>
            <a:r>
              <a:rPr lang="en-US" altLang="ko-KR" dirty="0"/>
              <a:t>ChatGPT, Gemini </a:t>
            </a:r>
            <a:r>
              <a:rPr lang="ko-KR" altLang="en-US" dirty="0"/>
              <a:t>등과 같은 생성형 </a:t>
            </a:r>
            <a:r>
              <a:rPr lang="en-US" altLang="ko-KR" dirty="0"/>
              <a:t>AI </a:t>
            </a:r>
            <a:r>
              <a:rPr lang="ko-KR" altLang="en-US" dirty="0"/>
              <a:t>서비스의 핵심 기반 기술입니다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915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4712F-3765-92F1-483D-A882D839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특징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4F24673-625A-A18D-4DF9-1D572985E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429009"/>
              </p:ext>
            </p:extLst>
          </p:nvPr>
        </p:nvGraphicFramePr>
        <p:xfrm>
          <a:off x="838200" y="1087438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234">
                  <a:extLst>
                    <a:ext uri="{9D8B030D-6E8A-4147-A177-3AD203B41FA5}">
                      <a16:colId xmlns:a16="http://schemas.microsoft.com/office/drawing/2014/main" val="1084457405"/>
                    </a:ext>
                  </a:extLst>
                </a:gridCol>
                <a:gridCol w="8131366">
                  <a:extLst>
                    <a:ext uri="{9D8B030D-6E8A-4147-A177-3AD203B41FA5}">
                      <a16:colId xmlns:a16="http://schemas.microsoft.com/office/drawing/2014/main" val="2958010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8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대규모 데이터 학습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웹 페이지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서적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코드 등 수천억 개의 단어에 달하는 방대한 텍스트 데이터를 학습합니다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5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거대한 모델 크기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수억 개에서 수조 개에 이르는 **파라미터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매개변수</a:t>
                      </a:r>
                      <a:r>
                        <a:rPr lang="en-US" altLang="ko-KR"/>
                        <a:t>)**</a:t>
                      </a:r>
                      <a:r>
                        <a:rPr lang="ko-KR" altLang="en-US"/>
                        <a:t>를 가지고 있어 복잡한 패턴과 맥락을 포착할 수 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290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언어 이해 및 생성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단순히 단어를 나열하는 것을 넘어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문맥을 이해하고 질문에 답하거나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글을 요약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번역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창작하는 등 다양한 언어 작업을 수행합니다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71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트랜스포머 아키텍처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대부분 **</a:t>
                      </a:r>
                      <a:r>
                        <a:rPr lang="en-US" altLang="ko-KR"/>
                        <a:t>Transformer(</a:t>
                      </a:r>
                      <a:r>
                        <a:rPr lang="ko-KR" altLang="en-US"/>
                        <a:t>트랜스포머</a:t>
                      </a:r>
                      <a:r>
                        <a:rPr lang="en-US" altLang="ko-KR"/>
                        <a:t>)**</a:t>
                      </a:r>
                      <a:r>
                        <a:rPr lang="ko-KR" altLang="en-US"/>
                        <a:t>라는 신경망 구조를 기반으로 하며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이는 언어 데이터의 순서와 관계를 효율적으로 처리하여 성능을 비약적으로 향상시켰습니다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467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범용성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Generalization)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특정 작업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번역만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위해 훈련된 것이 아니라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학습된 지식을 바탕으로 새로운 종류의 언어 작업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코딩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추론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도 수행할 수 있는 </a:t>
                      </a:r>
                      <a:r>
                        <a:rPr lang="ko-KR" altLang="en-US" b="1" dirty="0"/>
                        <a:t>뛰어난 범용성</a:t>
                      </a:r>
                      <a:r>
                        <a:rPr lang="ko-KR" altLang="en-US" dirty="0"/>
                        <a:t>을 가집니다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98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769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7862A-6F4B-EE35-153D-09D6D542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이 작동하는 방식 </a:t>
            </a:r>
            <a:r>
              <a:rPr lang="en-US" altLang="ko-KR" dirty="0"/>
              <a:t>(</a:t>
            </a:r>
            <a:r>
              <a:rPr lang="ko-KR" altLang="en-US" dirty="0"/>
              <a:t>토큰과 예측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75D7C6-C376-C4B1-BDE0-C214B65E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/>
              <a:t>LLM</a:t>
            </a:r>
            <a:r>
              <a:rPr lang="ko-KR" altLang="en-US" dirty="0"/>
              <a:t>은 확률적으로 다음 단어를 예측하며 문장을 완성합니다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토큰화 </a:t>
            </a:r>
            <a:r>
              <a:rPr lang="en-US" altLang="ko-KR" dirty="0"/>
              <a:t>(Tokenization):</a:t>
            </a:r>
            <a:r>
              <a:rPr lang="ko-KR" altLang="en-US" dirty="0"/>
              <a:t> 입력된 문장이나 단어는 의미를 가지는 최소 단위인 **토큰</a:t>
            </a:r>
            <a:r>
              <a:rPr lang="en-US" altLang="ko-KR" dirty="0"/>
              <a:t>(Token)**</a:t>
            </a:r>
            <a:r>
              <a:rPr lang="ko-KR" altLang="en-US" dirty="0"/>
              <a:t>으로 쪼개집니다</a:t>
            </a:r>
            <a:r>
              <a:rPr lang="en-US" altLang="ko-KR" dirty="0"/>
              <a:t>. (</a:t>
            </a:r>
            <a:r>
              <a:rPr lang="ko-KR" altLang="en-US" dirty="0"/>
              <a:t>단어나 구</a:t>
            </a:r>
            <a:r>
              <a:rPr lang="en-US" altLang="ko-KR" dirty="0"/>
              <a:t>, </a:t>
            </a:r>
            <a:r>
              <a:rPr lang="ko-KR" altLang="en-US" dirty="0"/>
              <a:t>또는 글자 단위가 될 수 있음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문맥 이해</a:t>
            </a:r>
            <a:r>
              <a:rPr lang="en-US" altLang="ko-KR" dirty="0"/>
              <a:t>:</a:t>
            </a:r>
            <a:r>
              <a:rPr lang="ko-KR" altLang="en-US" dirty="0"/>
              <a:t> 모델은 이 토큰들의 배열을 분석하여 이전 문장들이 어떤 의미와 맥락을 가지고 있는지 이해합니다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토큰 예측</a:t>
            </a:r>
            <a:r>
              <a:rPr lang="en-US" altLang="ko-KR" dirty="0"/>
              <a:t>:</a:t>
            </a:r>
            <a:r>
              <a:rPr lang="ko-KR" altLang="en-US" dirty="0"/>
              <a:t> 학습된 방대한 데이터를 바탕으로 **가장 적절한 다음 토큰</a:t>
            </a:r>
            <a:r>
              <a:rPr lang="en-US" altLang="ko-KR" dirty="0"/>
              <a:t>(</a:t>
            </a:r>
            <a:r>
              <a:rPr lang="ko-KR" altLang="en-US" dirty="0"/>
              <a:t>단어</a:t>
            </a:r>
            <a:r>
              <a:rPr lang="en-US" altLang="ko-KR" dirty="0"/>
              <a:t>)**</a:t>
            </a:r>
            <a:r>
              <a:rPr lang="ko-KR" altLang="en-US" dirty="0"/>
              <a:t>이 무엇인지 확률적으로 예측하고 생성합니다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반복 생성</a:t>
            </a:r>
            <a:r>
              <a:rPr lang="en-US" altLang="ko-KR" dirty="0"/>
              <a:t>:</a:t>
            </a:r>
            <a:r>
              <a:rPr lang="ko-KR" altLang="en-US" dirty="0"/>
              <a:t> 이 과정을 반복하여 한 문장</a:t>
            </a:r>
            <a:r>
              <a:rPr lang="en-US" altLang="ko-KR" dirty="0"/>
              <a:t>, </a:t>
            </a:r>
            <a:r>
              <a:rPr lang="ko-KR" altLang="en-US" dirty="0"/>
              <a:t>한 단락</a:t>
            </a:r>
            <a:r>
              <a:rPr lang="en-US" altLang="ko-KR" dirty="0"/>
              <a:t>, </a:t>
            </a:r>
            <a:r>
              <a:rPr lang="ko-KR" altLang="en-US" dirty="0"/>
              <a:t>나아가 하나의 완결된 글을 생성해 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의 성능은 주로 모델의 크기</a:t>
            </a:r>
            <a:r>
              <a:rPr lang="en-US" altLang="ko-KR" dirty="0"/>
              <a:t>(</a:t>
            </a:r>
            <a:r>
              <a:rPr lang="ko-KR" altLang="en-US" dirty="0"/>
              <a:t>파라미터 수</a:t>
            </a:r>
            <a:r>
              <a:rPr lang="en-US" altLang="ko-KR" dirty="0"/>
              <a:t>)</a:t>
            </a:r>
            <a:r>
              <a:rPr lang="ko-KR" altLang="en-US" dirty="0"/>
              <a:t>와 학습 데이터의 양</a:t>
            </a:r>
            <a:r>
              <a:rPr lang="en-US" altLang="ko-KR" dirty="0"/>
              <a:t>, </a:t>
            </a:r>
            <a:r>
              <a:rPr lang="ko-KR" altLang="en-US" dirty="0"/>
              <a:t>그리고 모델을 훈련하는 방식</a:t>
            </a:r>
            <a:r>
              <a:rPr lang="en-US" altLang="ko-KR" dirty="0"/>
              <a:t>(</a:t>
            </a:r>
            <a:r>
              <a:rPr lang="ko-KR" altLang="en-US" dirty="0"/>
              <a:t>파인 튜닝 등</a:t>
            </a:r>
            <a:r>
              <a:rPr lang="en-US" altLang="ko-KR" dirty="0"/>
              <a:t>)</a:t>
            </a:r>
            <a:r>
              <a:rPr lang="ko-KR" altLang="en-US" dirty="0"/>
              <a:t>에 의해 결정됩니다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407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10174-F7A0-D659-E198-FD3DCA7B9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761F1-D01C-8F6C-4069-21523FAB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LLM (Large Language Model, 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은 그 범용성 덕분에 거의 모든 산업 분야에서 혁신적으로 적용되고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콘텐츠 생성 및 마케팅 </a:t>
            </a:r>
            <a:r>
              <a:rPr lang="en-US" altLang="ko-KR" dirty="0"/>
              <a:t>(Content Generation &amp; Marketing)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방대한 텍스트를 학습했기 때문에 사람처럼 자연스러운 글을 대량으로 빠르게 생성할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자동 문서 초안 작성</a:t>
            </a:r>
            <a:r>
              <a:rPr lang="en-US" altLang="ko-KR" dirty="0"/>
              <a:t>:</a:t>
            </a:r>
            <a:r>
              <a:rPr lang="ko-KR" altLang="en-US" dirty="0"/>
              <a:t> 이메일</a:t>
            </a:r>
            <a:r>
              <a:rPr lang="en-US" altLang="ko-KR" dirty="0"/>
              <a:t>, 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회의록</a:t>
            </a:r>
            <a:r>
              <a:rPr lang="en-US" altLang="ko-KR" dirty="0"/>
              <a:t>, </a:t>
            </a:r>
            <a:r>
              <a:rPr lang="ko-KR" altLang="en-US" dirty="0"/>
              <a:t>프레젠테이션 스크립트 등의 초안을 작성하여 시간을 절약합니다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마케팅 문구 및 광고 카피 생성</a:t>
            </a:r>
            <a:r>
              <a:rPr lang="en-US" altLang="ko-KR" dirty="0"/>
              <a:t>:</a:t>
            </a:r>
            <a:r>
              <a:rPr lang="ko-KR" altLang="en-US" dirty="0"/>
              <a:t> 특정 고객층과 목적에 맞는 다양한 스타일의 광고 문구</a:t>
            </a:r>
            <a:r>
              <a:rPr lang="en-US" altLang="ko-KR" dirty="0"/>
              <a:t>, </a:t>
            </a:r>
            <a:r>
              <a:rPr lang="ko-KR" altLang="en-US" dirty="0"/>
              <a:t>소셜 미디어 게시물</a:t>
            </a:r>
            <a:r>
              <a:rPr lang="en-US" altLang="ko-KR" dirty="0"/>
              <a:t>, </a:t>
            </a:r>
            <a:r>
              <a:rPr lang="ko-KR" altLang="en-US" dirty="0"/>
              <a:t>제품 설명을 생성하여 마케팅 효율을 높입니다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번역 및 현지화</a:t>
            </a:r>
            <a:r>
              <a:rPr lang="en-US" altLang="ko-KR" dirty="0"/>
              <a:t>:</a:t>
            </a:r>
            <a:r>
              <a:rPr lang="ko-KR" altLang="en-US" dirty="0"/>
              <a:t> 높은 정확도와 맥락 이해를 바탕으로 실시간 다국어 번역 및 현지화 작업에 활용됩니다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소설</a:t>
            </a:r>
            <a:r>
              <a:rPr lang="en-US" altLang="ko-KR" dirty="0"/>
              <a:t>/</a:t>
            </a:r>
            <a:r>
              <a:rPr lang="ko-KR" altLang="en-US" dirty="0"/>
              <a:t>시나리오 창작 보조</a:t>
            </a:r>
            <a:r>
              <a:rPr lang="en-US" altLang="ko-KR" dirty="0"/>
              <a:t>:</a:t>
            </a:r>
            <a:r>
              <a:rPr lang="ko-KR" altLang="en-US" dirty="0"/>
              <a:t> 작가나 기획자의 아이디어를 바탕으로 이야기의 줄거리</a:t>
            </a:r>
            <a:r>
              <a:rPr lang="en-US" altLang="ko-KR" dirty="0"/>
              <a:t>, </a:t>
            </a:r>
            <a:r>
              <a:rPr lang="ko-KR" altLang="en-US" dirty="0"/>
              <a:t>대사</a:t>
            </a:r>
            <a:r>
              <a:rPr lang="en-US" altLang="ko-KR" dirty="0"/>
              <a:t>, </a:t>
            </a:r>
            <a:r>
              <a:rPr lang="ko-KR" altLang="en-US" dirty="0"/>
              <a:t>캐릭터 설정 등을 보조하거나 생성합니다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8440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7CFB-6582-D434-914D-1BB7C86F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5D13A-BC7D-B97B-9584-C10A0E08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67FAE-0DA8-1EF4-332D-FA52948AA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고객 서비스 및 지원 </a:t>
            </a:r>
            <a:r>
              <a:rPr lang="en-US" altLang="ko-KR" dirty="0"/>
              <a:t>(Customer Service &amp; Support)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자연어 이해 능력이 뛰어나 고객과의 대화형 상호작용을 지능적으로 처리할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지능형 </a:t>
            </a:r>
            <a:r>
              <a:rPr lang="ko-KR" altLang="en-US" dirty="0" err="1"/>
              <a:t>챗봇</a:t>
            </a:r>
            <a:r>
              <a:rPr lang="ko-KR" altLang="en-US" dirty="0"/>
              <a:t> </a:t>
            </a:r>
            <a:r>
              <a:rPr lang="en-US" altLang="ko-KR" dirty="0"/>
              <a:t>(AI Chatbot):</a:t>
            </a:r>
            <a:r>
              <a:rPr lang="ko-KR" altLang="en-US" dirty="0"/>
              <a:t> 단순히 정해진 답변만 하는 것을 넘어</a:t>
            </a:r>
            <a:r>
              <a:rPr lang="en-US" altLang="ko-KR" dirty="0"/>
              <a:t>, </a:t>
            </a:r>
            <a:r>
              <a:rPr lang="ko-KR" altLang="en-US" dirty="0"/>
              <a:t>복잡한 질문의 맥락을 이해하고 고객 데이터베이스를 기반으로 맞춤형 정보를 제공하여 고객 문의의 </a:t>
            </a:r>
            <a:r>
              <a:rPr lang="en-US" altLang="ko-KR" dirty="0"/>
              <a:t>80% </a:t>
            </a:r>
            <a:r>
              <a:rPr lang="ko-KR" altLang="en-US" dirty="0"/>
              <a:t>이상을 자동 처리합니다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상담원 보조 </a:t>
            </a:r>
            <a:r>
              <a:rPr lang="en-US" altLang="ko-KR" dirty="0"/>
              <a:t>(Agent Assist):</a:t>
            </a:r>
            <a:r>
              <a:rPr lang="ko-KR" altLang="en-US" dirty="0"/>
              <a:t> 고객 센터 상담사가 고객과 대화하는 동안 실시간으로 관련 자료를 검색하거나</a:t>
            </a:r>
            <a:r>
              <a:rPr lang="en-US" altLang="ko-KR" dirty="0"/>
              <a:t>, </a:t>
            </a:r>
            <a:r>
              <a:rPr lang="ko-KR" altLang="en-US" dirty="0"/>
              <a:t>다음 질문에 대한 최적의 답변 초안을 제공하여 상담 효율성과 품질을 높입니다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VOC(</a:t>
            </a:r>
            <a:r>
              <a:rPr lang="ko-KR" altLang="en-US" dirty="0"/>
              <a:t>고객의 소리</a:t>
            </a:r>
            <a:r>
              <a:rPr lang="en-US" altLang="ko-KR" dirty="0"/>
              <a:t>) </a:t>
            </a:r>
            <a:r>
              <a:rPr lang="ko-KR" altLang="en-US" dirty="0"/>
              <a:t>분석</a:t>
            </a:r>
            <a:r>
              <a:rPr lang="en-US" altLang="ko-KR" dirty="0"/>
              <a:t>:</a:t>
            </a:r>
            <a:r>
              <a:rPr lang="ko-KR" altLang="en-US" dirty="0"/>
              <a:t> 고객 피드백</a:t>
            </a:r>
            <a:r>
              <a:rPr lang="en-US" altLang="ko-KR" dirty="0"/>
              <a:t>, </a:t>
            </a:r>
            <a:r>
              <a:rPr lang="ko-KR" altLang="en-US" dirty="0"/>
              <a:t>리뷰</a:t>
            </a:r>
            <a:r>
              <a:rPr lang="en-US" altLang="ko-KR" dirty="0"/>
              <a:t>, </a:t>
            </a:r>
            <a:r>
              <a:rPr lang="ko-KR" altLang="en-US" dirty="0"/>
              <a:t>상담 내용을 자동으로 요약하고 주요 이슈와 감정을 분석하여 제품 및 서비스 개선에 활용합니다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0432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DDBE-0BE5-1448-C1F2-AEF70DEF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705A5-A98A-EFEB-7E8A-9F82764C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15B4D-BFC5-92CA-2B33-1F5A2939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지식 관리 및 연구 개발 </a:t>
            </a:r>
            <a:r>
              <a:rPr lang="en-US" altLang="ko-KR" dirty="0"/>
              <a:t>(Knowledge Management &amp; R&amp;D)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기업 내부에 흩어져 있거나 전문 분야에 깊이 묻혀 있는 지식을 쉽게 접근하고 활용할 수 있게 만듭니다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정보 검색 및 요약</a:t>
            </a:r>
            <a:r>
              <a:rPr lang="en-US" altLang="ko-KR" dirty="0"/>
              <a:t>:</a:t>
            </a:r>
            <a:r>
              <a:rPr lang="ko-KR" altLang="en-US" dirty="0"/>
              <a:t> 수많은 기술 문서</a:t>
            </a:r>
            <a:r>
              <a:rPr lang="en-US" altLang="ko-KR" dirty="0"/>
              <a:t>, </a:t>
            </a:r>
            <a:r>
              <a:rPr lang="ko-KR" altLang="en-US" dirty="0"/>
              <a:t>법률 조항</a:t>
            </a:r>
            <a:r>
              <a:rPr lang="en-US" altLang="ko-KR" dirty="0"/>
              <a:t>, </a:t>
            </a:r>
            <a:r>
              <a:rPr lang="ko-KR" altLang="en-US" dirty="0"/>
              <a:t>연구 논문 등 방대한 내부 자료를 빠르게 검색하고</a:t>
            </a:r>
            <a:r>
              <a:rPr lang="en-US" altLang="ko-KR" dirty="0"/>
              <a:t>, </a:t>
            </a:r>
            <a:r>
              <a:rPr lang="ko-KR" altLang="en-US" dirty="0"/>
              <a:t>핵심 내용을 요약하여 사용자에게 제공합니다</a:t>
            </a:r>
            <a:r>
              <a:rPr lang="en-US" altLang="ko-KR" dirty="0"/>
              <a:t>. (RAG: Retrieval-Augmented Generation </a:t>
            </a:r>
            <a:r>
              <a:rPr lang="ko-KR" altLang="en-US" dirty="0"/>
              <a:t>방식 활용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코드 생성 및 디버깅</a:t>
            </a:r>
            <a:r>
              <a:rPr lang="en-US" altLang="ko-KR" dirty="0"/>
              <a:t>:</a:t>
            </a:r>
            <a:r>
              <a:rPr lang="ko-KR" altLang="en-US" dirty="0"/>
              <a:t> 프로그래밍 코드를 생성하거나</a:t>
            </a:r>
            <a:r>
              <a:rPr lang="en-US" altLang="ko-KR" dirty="0"/>
              <a:t>, </a:t>
            </a:r>
            <a:r>
              <a:rPr lang="ko-KR" altLang="en-US" dirty="0"/>
              <a:t>기존 코드의 문제점</a:t>
            </a:r>
            <a:r>
              <a:rPr lang="en-US" altLang="ko-KR" dirty="0"/>
              <a:t>(</a:t>
            </a:r>
            <a:r>
              <a:rPr lang="ko-KR" altLang="en-US" dirty="0"/>
              <a:t>버그</a:t>
            </a:r>
            <a:r>
              <a:rPr lang="en-US" altLang="ko-KR" dirty="0"/>
              <a:t>)</a:t>
            </a:r>
            <a:r>
              <a:rPr lang="ko-KR" altLang="en-US" dirty="0"/>
              <a:t>을 찾아내고 개선 방안을 제시하여 개발 생산성을 높입니다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전문가 시스템</a:t>
            </a:r>
            <a:r>
              <a:rPr lang="en-US" altLang="ko-KR" dirty="0"/>
              <a:t>:</a:t>
            </a:r>
            <a:r>
              <a:rPr lang="ko-KR" altLang="en-US" dirty="0"/>
              <a:t> 법률</a:t>
            </a:r>
            <a:r>
              <a:rPr lang="en-US" altLang="ko-KR" dirty="0"/>
              <a:t>, </a:t>
            </a:r>
            <a:r>
              <a:rPr lang="ko-KR" altLang="en-US" dirty="0"/>
              <a:t>금융</a:t>
            </a:r>
            <a:r>
              <a:rPr lang="en-US" altLang="ko-KR" dirty="0"/>
              <a:t>, </a:t>
            </a:r>
            <a:r>
              <a:rPr lang="ko-KR" altLang="en-US" dirty="0"/>
              <a:t>의료 등 전문 지식이 필요한 영역에서 질문에 답하고</a:t>
            </a:r>
            <a:r>
              <a:rPr lang="en-US" altLang="ko-KR" dirty="0"/>
              <a:t>, </a:t>
            </a:r>
            <a:r>
              <a:rPr lang="ko-KR" altLang="en-US" dirty="0"/>
              <a:t>복잡한 사례 분석을 보조하는 전문가 역할을 수행합니다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1613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91F7-887B-BE36-4CA9-872D2B91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2A2FD-3CA0-8707-F0F8-36C9F08D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C9976-53CE-9D15-2847-4454EB495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교육 및 학습 </a:t>
            </a:r>
            <a:r>
              <a:rPr lang="en-US" altLang="ko-KR" dirty="0"/>
              <a:t>(Education &amp; Learning)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학습자 개개인의 수준과 속도에 맞춘 교육을 가능하게 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개인 맞춤형 </a:t>
            </a:r>
            <a:r>
              <a:rPr lang="ko-KR" altLang="en-US" dirty="0" err="1"/>
              <a:t>튜터</a:t>
            </a:r>
            <a:r>
              <a:rPr lang="en-US" altLang="ko-KR" dirty="0"/>
              <a:t>:</a:t>
            </a:r>
            <a:r>
              <a:rPr lang="ko-KR" altLang="en-US" dirty="0"/>
              <a:t> 학생의 질문이나 오답 패턴을 분석하여 개별적인 설명과 학습 자료를 제공하는 </a:t>
            </a:r>
            <a:r>
              <a:rPr lang="en-US" altLang="ko-KR" dirty="0"/>
              <a:t>AI </a:t>
            </a:r>
            <a:r>
              <a:rPr lang="ko-KR" altLang="en-US" dirty="0"/>
              <a:t>선생님 역할을 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학습 평가 및 피드백 자동화</a:t>
            </a:r>
            <a:r>
              <a:rPr lang="en-US" altLang="ko-KR" dirty="0"/>
              <a:t>:</a:t>
            </a:r>
            <a:r>
              <a:rPr lang="ko-KR" altLang="en-US" dirty="0"/>
              <a:t> 에세이나 서술형 답안의 문맥과 내용을 분석하여 평가하고</a:t>
            </a:r>
            <a:r>
              <a:rPr lang="en-US" altLang="ko-KR" dirty="0"/>
              <a:t>, </a:t>
            </a:r>
            <a:r>
              <a:rPr lang="ko-KR" altLang="en-US" dirty="0"/>
              <a:t>구체적인 개선 피드백을 제공합니다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023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8A4E-AC42-5E2C-4DD1-86FFE41A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560EE-5AB5-DB73-9A54-9F84F2D8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BDB44-CD0D-084A-62BB-C724E02C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LLM (Large Language Model, 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은 그 범용성 덕분에 거의 모든 산업 분야에서 혁신적으로 적용되고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콘텐츠 생성 및 마케팅 </a:t>
            </a:r>
            <a:r>
              <a:rPr lang="en-US" altLang="ko-KR" dirty="0"/>
              <a:t>(Content Generation &amp; Marketing)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방대한 텍스트를 학습했기 때문에 사람처럼 자연스러운 글을 대량으로 빠르게 생성할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자동 문서 초안 작성</a:t>
            </a:r>
            <a:r>
              <a:rPr lang="en-US" altLang="ko-KR" dirty="0"/>
              <a:t>:</a:t>
            </a:r>
            <a:r>
              <a:rPr lang="ko-KR" altLang="en-US" dirty="0"/>
              <a:t> 이메일</a:t>
            </a:r>
            <a:r>
              <a:rPr lang="en-US" altLang="ko-KR" dirty="0"/>
              <a:t>, 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회의록</a:t>
            </a:r>
            <a:r>
              <a:rPr lang="en-US" altLang="ko-KR" dirty="0"/>
              <a:t>, </a:t>
            </a:r>
            <a:r>
              <a:rPr lang="ko-KR" altLang="en-US" dirty="0"/>
              <a:t>프레젠테이션 스크립트 등의 초안을 작성하여 시간을 절약합니다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마케팅 문구 및 광고 카피 생성</a:t>
            </a:r>
            <a:r>
              <a:rPr lang="en-US" altLang="ko-KR" dirty="0"/>
              <a:t>:</a:t>
            </a:r>
            <a:r>
              <a:rPr lang="ko-KR" altLang="en-US" dirty="0"/>
              <a:t> 특정 고객층과 목적에 맞는 다양한 스타일의 광고 문구</a:t>
            </a:r>
            <a:r>
              <a:rPr lang="en-US" altLang="ko-KR" dirty="0"/>
              <a:t>, </a:t>
            </a:r>
            <a:r>
              <a:rPr lang="ko-KR" altLang="en-US" dirty="0"/>
              <a:t>소셜 미디어 게시물</a:t>
            </a:r>
            <a:r>
              <a:rPr lang="en-US" altLang="ko-KR" dirty="0"/>
              <a:t>, </a:t>
            </a:r>
            <a:r>
              <a:rPr lang="ko-KR" altLang="en-US" dirty="0"/>
              <a:t>제품 설명을 생성하여 마케팅 효율을 높입니다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번역 및 현지화</a:t>
            </a:r>
            <a:r>
              <a:rPr lang="en-US" altLang="ko-KR" dirty="0"/>
              <a:t>:</a:t>
            </a:r>
            <a:r>
              <a:rPr lang="ko-KR" altLang="en-US" dirty="0"/>
              <a:t> 높은 정확도와 맥락 이해를 바탕으로 실시간 다국어 번역 및 현지화 작업에 활용됩니다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소설</a:t>
            </a:r>
            <a:r>
              <a:rPr lang="en-US" altLang="ko-KR" dirty="0"/>
              <a:t>/</a:t>
            </a:r>
            <a:r>
              <a:rPr lang="ko-KR" altLang="en-US" dirty="0"/>
              <a:t>시나리오 창작 보조</a:t>
            </a:r>
            <a:r>
              <a:rPr lang="en-US" altLang="ko-KR" dirty="0"/>
              <a:t>:</a:t>
            </a:r>
            <a:r>
              <a:rPr lang="ko-KR" altLang="en-US" dirty="0"/>
              <a:t> 작가나 기획자의 아이디어를 바탕으로 이야기의 줄거리</a:t>
            </a:r>
            <a:r>
              <a:rPr lang="en-US" altLang="ko-KR" dirty="0"/>
              <a:t>, </a:t>
            </a:r>
            <a:r>
              <a:rPr lang="ko-KR" altLang="en-US" dirty="0"/>
              <a:t>대사</a:t>
            </a:r>
            <a:r>
              <a:rPr lang="en-US" altLang="ko-KR" dirty="0"/>
              <a:t>, </a:t>
            </a:r>
            <a:r>
              <a:rPr lang="ko-KR" altLang="en-US" dirty="0"/>
              <a:t>캐릭터 설정 등을 보조하거나 생성합니다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261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9EDE-FFD6-A409-3D60-D0EE559D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74E49-87BD-5225-7F51-1A3F6775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주요 적용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859238-BD7D-BBC7-07DF-8A8778C1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LLM (Large Language Model, 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은 그 범용성 덕분에 거의 모든 산업 분야에서 혁신적으로 적용되고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콘텐츠 생성 및 마케팅 </a:t>
            </a:r>
            <a:r>
              <a:rPr lang="en-US" altLang="ko-KR" dirty="0"/>
              <a:t>(Content Generation &amp; Marketing)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방대한 텍스트를 학습했기 때문에 사람처럼 자연스러운 글을 대량으로 빠르게 생성할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자동 문서 초안 작성</a:t>
            </a:r>
            <a:r>
              <a:rPr lang="en-US" altLang="ko-KR" dirty="0"/>
              <a:t>:</a:t>
            </a:r>
            <a:r>
              <a:rPr lang="ko-KR" altLang="en-US" dirty="0"/>
              <a:t> 이메일</a:t>
            </a:r>
            <a:r>
              <a:rPr lang="en-US" altLang="ko-KR" dirty="0"/>
              <a:t>, 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회의록</a:t>
            </a:r>
            <a:r>
              <a:rPr lang="en-US" altLang="ko-KR" dirty="0"/>
              <a:t>, </a:t>
            </a:r>
            <a:r>
              <a:rPr lang="ko-KR" altLang="en-US" dirty="0"/>
              <a:t>프레젠테이션 스크립트 등의 초안을 작성하여 시간을 절약합니다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마케팅 문구 및 광고 카피 생성</a:t>
            </a:r>
            <a:r>
              <a:rPr lang="en-US" altLang="ko-KR" dirty="0"/>
              <a:t>:</a:t>
            </a:r>
            <a:r>
              <a:rPr lang="ko-KR" altLang="en-US" dirty="0"/>
              <a:t> 특정 고객층과 목적에 맞는 다양한 스타일의 광고 문구</a:t>
            </a:r>
            <a:r>
              <a:rPr lang="en-US" altLang="ko-KR" dirty="0"/>
              <a:t>, </a:t>
            </a:r>
            <a:r>
              <a:rPr lang="ko-KR" altLang="en-US" dirty="0"/>
              <a:t>소셜 미디어 게시물</a:t>
            </a:r>
            <a:r>
              <a:rPr lang="en-US" altLang="ko-KR" dirty="0"/>
              <a:t>, </a:t>
            </a:r>
            <a:r>
              <a:rPr lang="ko-KR" altLang="en-US" dirty="0"/>
              <a:t>제품 설명을 생성하여 마케팅 효율을 높입니다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번역 및 현지화</a:t>
            </a:r>
            <a:r>
              <a:rPr lang="en-US" altLang="ko-KR" dirty="0"/>
              <a:t>:</a:t>
            </a:r>
            <a:r>
              <a:rPr lang="ko-KR" altLang="en-US" dirty="0"/>
              <a:t> 높은 정확도와 맥락 이해를 바탕으로 실시간 다국어 번역 및 현지화 작업에 활용됩니다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소설</a:t>
            </a:r>
            <a:r>
              <a:rPr lang="en-US" altLang="ko-KR" dirty="0"/>
              <a:t>/</a:t>
            </a:r>
            <a:r>
              <a:rPr lang="ko-KR" altLang="en-US" dirty="0"/>
              <a:t>시나리오 창작 보조</a:t>
            </a:r>
            <a:r>
              <a:rPr lang="en-US" altLang="ko-KR" dirty="0"/>
              <a:t>:</a:t>
            </a:r>
            <a:r>
              <a:rPr lang="ko-KR" altLang="en-US" dirty="0"/>
              <a:t> 작가나 기획자의 아이디어를 바탕으로 이야기의 줄거리</a:t>
            </a:r>
            <a:r>
              <a:rPr lang="en-US" altLang="ko-KR" dirty="0"/>
              <a:t>, </a:t>
            </a:r>
            <a:r>
              <a:rPr lang="ko-KR" altLang="en-US" dirty="0"/>
              <a:t>대사</a:t>
            </a:r>
            <a:r>
              <a:rPr lang="en-US" altLang="ko-KR" dirty="0"/>
              <a:t>, </a:t>
            </a:r>
            <a:r>
              <a:rPr lang="ko-KR" altLang="en-US" dirty="0"/>
              <a:t>캐릭터 설정 등을 보조하거나 생성합니다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2241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CD69E-3EA9-5B03-B572-B8A4C962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원리</a:t>
            </a:r>
            <a:r>
              <a:rPr lang="en-US" altLang="ko-KR" dirty="0"/>
              <a:t>: </a:t>
            </a:r>
            <a:r>
              <a:rPr lang="ko-KR" altLang="en-US" dirty="0"/>
              <a:t>다음 단어 예측과 트랜스포머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4A810A-FBC1-E569-16D0-5E67F4EE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LLM(Large Language Model, 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의 작동 원리는 두 가지 핵심 개념으로 요약할 수 있습니다</a:t>
            </a:r>
            <a:r>
              <a:rPr lang="en-US" altLang="ko-KR" dirty="0"/>
              <a:t>: </a:t>
            </a:r>
            <a:r>
              <a:rPr lang="ko-KR" altLang="en-US" dirty="0"/>
              <a:t>다음 단어</a:t>
            </a:r>
            <a:r>
              <a:rPr lang="en-US" altLang="ko-KR" dirty="0"/>
              <a:t>(</a:t>
            </a:r>
            <a:r>
              <a:rPr lang="ko-KR" altLang="en-US" dirty="0"/>
              <a:t>토큰</a:t>
            </a:r>
            <a:r>
              <a:rPr lang="en-US" altLang="ko-KR" dirty="0"/>
              <a:t>) </a:t>
            </a:r>
            <a:r>
              <a:rPr lang="ko-KR" altLang="en-US" dirty="0"/>
              <a:t>예측과 이 예측을 가능하게 하는 트랜스포머</a:t>
            </a:r>
            <a:r>
              <a:rPr lang="en-US" altLang="ko-KR" dirty="0"/>
              <a:t>(Transformer) </a:t>
            </a:r>
            <a:r>
              <a:rPr lang="ko-KR" altLang="en-US" dirty="0"/>
              <a:t>아키텍처입니다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409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4577B-6430-A0CE-AFEF-32319218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원리</a:t>
            </a:r>
            <a:r>
              <a:rPr lang="en-US" altLang="ko-KR" dirty="0"/>
              <a:t>: </a:t>
            </a:r>
            <a:r>
              <a:rPr lang="ko-KR" altLang="en-US" dirty="0"/>
              <a:t>다음 단어</a:t>
            </a:r>
            <a:r>
              <a:rPr lang="en-US" altLang="ko-KR" dirty="0"/>
              <a:t>(</a:t>
            </a:r>
            <a:r>
              <a:rPr lang="ko-KR" altLang="en-US" dirty="0"/>
              <a:t>토큰</a:t>
            </a:r>
            <a:r>
              <a:rPr lang="en-US" altLang="ko-KR" dirty="0"/>
              <a:t>) </a:t>
            </a:r>
            <a:r>
              <a:rPr lang="ko-KR" altLang="en-US" dirty="0"/>
              <a:t>예측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EECCE9-93C3-E3F0-2783-6A4ABE7F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LLM</a:t>
            </a:r>
            <a:r>
              <a:rPr lang="ko-KR" altLang="en-US" dirty="0"/>
              <a:t>은 방대한 데이터를 학습하여 주어진 문맥에서 다음에 올 단어</a:t>
            </a:r>
            <a:r>
              <a:rPr lang="en-US" altLang="ko-KR" dirty="0"/>
              <a:t>(</a:t>
            </a:r>
            <a:r>
              <a:rPr lang="ko-KR" altLang="en-US" dirty="0"/>
              <a:t>정확히는 토큰</a:t>
            </a:r>
            <a:r>
              <a:rPr lang="en-US" altLang="ko-KR" dirty="0"/>
              <a:t>)</a:t>
            </a:r>
            <a:r>
              <a:rPr lang="ko-KR" altLang="en-US" dirty="0"/>
              <a:t>가 무엇일지 확률적으로 가장 잘 예측하도록 훈련된 모델입니다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토큰화 </a:t>
            </a:r>
            <a:r>
              <a:rPr lang="en-US" altLang="ko-KR" dirty="0"/>
              <a:t>(Tokenization):</a:t>
            </a:r>
            <a:r>
              <a:rPr lang="ko-KR" altLang="en-US" dirty="0"/>
              <a:t> 입력된 문장은 모델이 처리할 수 있는 최소 단위인 토큰으로 분리됩니다</a:t>
            </a:r>
            <a:r>
              <a:rPr lang="en-US" altLang="ko-KR" dirty="0"/>
              <a:t>. </a:t>
            </a:r>
            <a:r>
              <a:rPr lang="ko-KR" altLang="en-US" dirty="0"/>
              <a:t>토큰은 단어</a:t>
            </a:r>
            <a:r>
              <a:rPr lang="en-US" altLang="ko-KR" dirty="0"/>
              <a:t>, </a:t>
            </a:r>
            <a:r>
              <a:rPr lang="ko-KR" altLang="en-US" dirty="0"/>
              <a:t>구</a:t>
            </a:r>
            <a:r>
              <a:rPr lang="en-US" altLang="ko-KR" dirty="0"/>
              <a:t>, </a:t>
            </a:r>
            <a:r>
              <a:rPr lang="ko-KR" altLang="en-US" dirty="0"/>
              <a:t>심지어 글자 단위가 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맥락 이해 </a:t>
            </a:r>
            <a:r>
              <a:rPr lang="en-US" altLang="ko-KR" dirty="0"/>
              <a:t>(Context Encoding):</a:t>
            </a:r>
            <a:r>
              <a:rPr lang="ko-KR" altLang="en-US" dirty="0"/>
              <a:t> 모델은 이전에 나온 모든 토큰들의 문맥적 관계와 의미를 파악합니다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"</a:t>
            </a:r>
            <a:r>
              <a:rPr lang="ko-KR" altLang="en-US" dirty="0"/>
              <a:t>나는 사과를 좋아한다</a:t>
            </a:r>
            <a:r>
              <a:rPr lang="en-US" altLang="ko-KR" dirty="0"/>
              <a:t>. </a:t>
            </a:r>
            <a:r>
              <a:rPr lang="ko-KR" altLang="en-US" dirty="0"/>
              <a:t>왜냐하면</a:t>
            </a:r>
            <a:r>
              <a:rPr lang="en-US" altLang="ko-KR" dirty="0"/>
              <a:t>..." </a:t>
            </a:r>
            <a:r>
              <a:rPr lang="ko-KR" altLang="en-US" dirty="0"/>
              <a:t>이라는 문장이 주어지면</a:t>
            </a:r>
            <a:r>
              <a:rPr lang="en-US" altLang="ko-KR" dirty="0"/>
              <a:t>, </a:t>
            </a:r>
            <a:r>
              <a:rPr lang="ko-KR" altLang="en-US" dirty="0"/>
              <a:t>모델은 </a:t>
            </a:r>
            <a:r>
              <a:rPr lang="en-US" altLang="ko-KR" dirty="0"/>
              <a:t>'</a:t>
            </a:r>
            <a:r>
              <a:rPr lang="ko-KR" altLang="en-US" dirty="0"/>
              <a:t>사과</a:t>
            </a:r>
            <a:r>
              <a:rPr lang="en-US" altLang="ko-KR" dirty="0"/>
              <a:t>'</a:t>
            </a:r>
            <a:r>
              <a:rPr lang="ko-KR" altLang="en-US" dirty="0"/>
              <a:t>가 과일이라는 맥락을 이해합니다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확률적 예측</a:t>
            </a:r>
            <a:r>
              <a:rPr lang="en-US" altLang="ko-KR" dirty="0"/>
              <a:t>:</a:t>
            </a:r>
            <a:r>
              <a:rPr lang="ko-KR" altLang="en-US" dirty="0"/>
              <a:t> 모델은 학습된 지식을 바탕으로 다음에 올 수 있는 모든 토큰에 대해 확률을 계산합니다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'</a:t>
            </a:r>
            <a:r>
              <a:rPr lang="ko-KR" altLang="en-US" dirty="0"/>
              <a:t>맛있기</a:t>
            </a:r>
            <a:r>
              <a:rPr lang="en-US" altLang="ko-KR" dirty="0"/>
              <a:t>', '</a:t>
            </a:r>
            <a:r>
              <a:rPr lang="ko-KR" altLang="en-US" dirty="0"/>
              <a:t>건강에</a:t>
            </a:r>
            <a:r>
              <a:rPr lang="en-US" altLang="ko-KR" dirty="0"/>
              <a:t>', '</a:t>
            </a:r>
            <a:r>
              <a:rPr lang="ko-KR" altLang="en-US" dirty="0"/>
              <a:t>빨갛기</a:t>
            </a:r>
            <a:r>
              <a:rPr lang="en-US" altLang="ko-KR" dirty="0"/>
              <a:t>', '</a:t>
            </a:r>
            <a:r>
              <a:rPr lang="ko-KR" altLang="en-US" dirty="0"/>
              <a:t>아이폰</a:t>
            </a:r>
            <a:r>
              <a:rPr lang="en-US" altLang="ko-KR" dirty="0"/>
              <a:t>'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토큰 선택 및 생성</a:t>
            </a:r>
            <a:r>
              <a:rPr lang="en-US" altLang="ko-KR" dirty="0"/>
              <a:t>:</a:t>
            </a:r>
            <a:r>
              <a:rPr lang="ko-KR" altLang="en-US" dirty="0"/>
              <a:t> 계산된 확률 중 가장 높은 토큰을 선택하거나 </a:t>
            </a:r>
            <a:r>
              <a:rPr lang="en-US" altLang="ko-KR" dirty="0"/>
              <a:t>(</a:t>
            </a:r>
            <a:r>
              <a:rPr lang="ko-KR" altLang="en-US" dirty="0"/>
              <a:t>혹은 일정 확률 분포에 따라 무작위로 선택</a:t>
            </a:r>
            <a:r>
              <a:rPr lang="en-US" altLang="ko-KR" dirty="0"/>
              <a:t>), </a:t>
            </a:r>
            <a:r>
              <a:rPr lang="ko-KR" altLang="en-US" dirty="0"/>
              <a:t>이 토큰을 출력하고 다시 새로운 문맥으로 추가하여 다음 토큰을 예측하는 과정을 반복합니다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반복적인 예측 과정을 통해 </a:t>
            </a:r>
            <a:r>
              <a:rPr lang="en-US" altLang="ko-KR" dirty="0"/>
              <a:t>LLM</a:t>
            </a:r>
            <a:r>
              <a:rPr lang="ko-KR" altLang="en-US" dirty="0"/>
              <a:t>은 길고 자연스러운 문장</a:t>
            </a:r>
            <a:r>
              <a:rPr lang="en-US" altLang="ko-KR" dirty="0"/>
              <a:t>, </a:t>
            </a:r>
            <a:r>
              <a:rPr lang="ko-KR" altLang="en-US" dirty="0"/>
              <a:t>보고서</a:t>
            </a:r>
            <a:r>
              <a:rPr lang="en-US" altLang="ko-KR" dirty="0"/>
              <a:t>, </a:t>
            </a:r>
            <a:r>
              <a:rPr lang="ko-KR" altLang="en-US" dirty="0"/>
              <a:t>코드를 생성하게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1096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BD3D5-481A-612C-E3D3-6A639691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구동 아키텍처</a:t>
            </a:r>
            <a:r>
              <a:rPr lang="en-US" altLang="ko-KR" dirty="0"/>
              <a:t>: </a:t>
            </a:r>
            <a:r>
              <a:rPr lang="ko-KR" altLang="en-US" dirty="0"/>
              <a:t>트랜스포머 </a:t>
            </a:r>
            <a:r>
              <a:rPr lang="en-US" altLang="ko-KR" dirty="0"/>
              <a:t>(Transformer)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C7AF0-4893-0014-02A6-A70752B7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</a:t>
            </a:r>
            <a:r>
              <a:rPr lang="ko-KR" altLang="en-US" dirty="0"/>
              <a:t>의 비약적인 발전은 </a:t>
            </a:r>
            <a:r>
              <a:rPr lang="en-US" altLang="ko-KR" dirty="0"/>
              <a:t>2017</a:t>
            </a:r>
            <a:r>
              <a:rPr lang="ko-KR" altLang="en-US" dirty="0"/>
              <a:t>년에 발표된 트랜스포머 신경망 아키텍처 덕분입니다</a:t>
            </a:r>
            <a:r>
              <a:rPr lang="en-US" altLang="ko-KR" dirty="0"/>
              <a:t>. </a:t>
            </a:r>
            <a:r>
              <a:rPr lang="ko-KR" altLang="en-US" dirty="0"/>
              <a:t>트랜스포머는 기존 </a:t>
            </a:r>
            <a:r>
              <a:rPr lang="en-US" altLang="ko-KR" dirty="0" err="1"/>
              <a:t>RNN</a:t>
            </a:r>
            <a:r>
              <a:rPr lang="en-US" altLang="ko-KR" dirty="0"/>
              <a:t>(</a:t>
            </a:r>
            <a:r>
              <a:rPr lang="ko-KR" altLang="en-US" dirty="0"/>
              <a:t>순환 신경망</a:t>
            </a:r>
            <a:r>
              <a:rPr lang="en-US" altLang="ko-KR" dirty="0"/>
              <a:t>)</a:t>
            </a:r>
            <a:r>
              <a:rPr lang="ko-KR" altLang="en-US" dirty="0"/>
              <a:t>의 한계를 극복했습니다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A. </a:t>
            </a:r>
            <a:r>
              <a:rPr lang="ko-KR" altLang="en-US" dirty="0"/>
              <a:t>병렬 처리 능력</a:t>
            </a:r>
          </a:p>
          <a:p>
            <a:pPr lvl="1"/>
            <a:r>
              <a:rPr lang="en-US" altLang="ko-KR" dirty="0" err="1"/>
              <a:t>RNN</a:t>
            </a:r>
            <a:r>
              <a:rPr lang="ko-KR" altLang="en-US" dirty="0"/>
              <a:t>의 한계</a:t>
            </a:r>
            <a:r>
              <a:rPr lang="en-US" altLang="ko-KR" dirty="0"/>
              <a:t>:</a:t>
            </a:r>
            <a:r>
              <a:rPr lang="ko-KR" altLang="en-US" dirty="0"/>
              <a:t> 기존 </a:t>
            </a:r>
            <a:r>
              <a:rPr lang="en-US" altLang="ko-KR" dirty="0" err="1"/>
              <a:t>RNN</a:t>
            </a:r>
            <a:r>
              <a:rPr lang="ko-KR" altLang="en-US" dirty="0"/>
              <a:t>은 단어를 순차적으로 처리했기 때문에 시간이 오래 걸리고 긴 문장일수록 앞부분의 정보를 잊어버리는 문제</a:t>
            </a:r>
            <a:r>
              <a:rPr lang="en-US" altLang="ko-KR" dirty="0"/>
              <a:t>(</a:t>
            </a:r>
            <a:r>
              <a:rPr lang="ko-KR" altLang="en-US" dirty="0"/>
              <a:t>장기 의존성 문제</a:t>
            </a:r>
            <a:r>
              <a:rPr lang="en-US" altLang="ko-KR" dirty="0"/>
              <a:t>)</a:t>
            </a:r>
            <a:r>
              <a:rPr lang="ko-KR" altLang="en-US" dirty="0"/>
              <a:t>가 있었습니다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트랜스포머의 장점</a:t>
            </a:r>
            <a:r>
              <a:rPr lang="en-US" altLang="ko-KR" dirty="0"/>
              <a:t>:</a:t>
            </a:r>
            <a:r>
              <a:rPr lang="ko-KR" altLang="en-US" dirty="0"/>
              <a:t> 트랜스포머는 문장의 모든 단어를 동시에</a:t>
            </a:r>
            <a:r>
              <a:rPr lang="en-US" altLang="ko-KR" dirty="0"/>
              <a:t>(</a:t>
            </a:r>
            <a:r>
              <a:rPr lang="ko-KR" altLang="en-US" dirty="0"/>
              <a:t>병렬로</a:t>
            </a:r>
            <a:r>
              <a:rPr lang="en-US" altLang="ko-KR" dirty="0"/>
              <a:t>)</a:t>
            </a:r>
            <a:r>
              <a:rPr lang="ko-KR" altLang="en-US" dirty="0"/>
              <a:t> 처리할 수 있어 학습 속도가 획기적으로 빨라졌고</a:t>
            </a:r>
            <a:r>
              <a:rPr lang="en-US" altLang="ko-KR" dirty="0"/>
              <a:t>, </a:t>
            </a:r>
            <a:r>
              <a:rPr lang="ko-KR" altLang="en-US" dirty="0"/>
              <a:t>수조 개에 달하는 대규모 데이터셋 학습이 </a:t>
            </a:r>
            <a:r>
              <a:rPr lang="ko-KR" altLang="en-US" dirty="0" err="1"/>
              <a:t>가능해졌습니다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805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79EA6-08A5-F111-B1F1-F6B12632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구동 아키텍처</a:t>
            </a:r>
            <a:r>
              <a:rPr lang="en-US" altLang="ko-KR" dirty="0"/>
              <a:t>: </a:t>
            </a:r>
            <a:r>
              <a:rPr lang="ko-KR" altLang="en-US" dirty="0"/>
              <a:t>트랜스포머 </a:t>
            </a:r>
            <a:r>
              <a:rPr lang="en-US" altLang="ko-KR" dirty="0"/>
              <a:t>(Transformer)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2F04B6-2715-D396-18D4-2B7245739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B. </a:t>
            </a:r>
            <a:r>
              <a:rPr lang="ko-KR" altLang="en-US" dirty="0" err="1"/>
              <a:t>어텐션</a:t>
            </a:r>
            <a:r>
              <a:rPr lang="ko-KR" altLang="en-US" dirty="0"/>
              <a:t> 메커니즘 </a:t>
            </a:r>
            <a:r>
              <a:rPr lang="en-US" altLang="ko-KR" dirty="0"/>
              <a:t>(Attention Mechanism)</a:t>
            </a:r>
          </a:p>
          <a:p>
            <a:pPr lvl="1"/>
            <a:r>
              <a:rPr lang="ko-KR" altLang="en-US" dirty="0"/>
              <a:t>트랜스포머의 핵심은 </a:t>
            </a:r>
            <a:r>
              <a:rPr lang="ko-KR" altLang="en-US" dirty="0" err="1"/>
              <a:t>어텐션</a:t>
            </a:r>
            <a:r>
              <a:rPr lang="en-US" altLang="ko-KR" dirty="0"/>
              <a:t>(Attention) </a:t>
            </a:r>
            <a:r>
              <a:rPr lang="ko-KR" altLang="en-US" dirty="0"/>
              <a:t>메커니즘입니다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집중 및 가중치 부여</a:t>
            </a:r>
            <a:r>
              <a:rPr lang="en-US" altLang="ko-KR" dirty="0"/>
              <a:t>:</a:t>
            </a:r>
            <a:r>
              <a:rPr lang="ko-KR" altLang="en-US" dirty="0"/>
              <a:t> 문장에서 특정 단어의 의미를 파악할 때</a:t>
            </a:r>
            <a:r>
              <a:rPr lang="en-US" altLang="ko-KR" dirty="0"/>
              <a:t>, </a:t>
            </a:r>
            <a:r>
              <a:rPr lang="ko-KR" altLang="en-US" dirty="0"/>
              <a:t>그 단어와 가장 관련성이 높은 다른 단어에 **가중치</a:t>
            </a:r>
            <a:r>
              <a:rPr lang="en-US" altLang="ko-KR" dirty="0"/>
              <a:t>(Weight)**</a:t>
            </a:r>
            <a:r>
              <a:rPr lang="ko-KR" altLang="en-US" dirty="0"/>
              <a:t>를 부여하여 집중하는 방식입니다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강아지가 밥을 먹었다</a:t>
            </a:r>
            <a:r>
              <a:rPr lang="en-US" altLang="ko-KR" dirty="0"/>
              <a:t>. </a:t>
            </a:r>
            <a:r>
              <a:rPr lang="ko-KR" altLang="en-US" dirty="0"/>
              <a:t>그것은 맛있었다</a:t>
            </a:r>
            <a:r>
              <a:rPr lang="en-US" altLang="ko-KR" dirty="0"/>
              <a:t>."</a:t>
            </a:r>
            <a:r>
              <a:rPr lang="ko-KR" altLang="en-US" dirty="0"/>
              <a:t>라는 문장에서 </a:t>
            </a:r>
            <a:r>
              <a:rPr lang="en-US" altLang="ko-KR" dirty="0"/>
              <a:t>'</a:t>
            </a:r>
            <a:r>
              <a:rPr lang="ko-KR" altLang="en-US" dirty="0"/>
              <a:t>그것은</a:t>
            </a:r>
            <a:r>
              <a:rPr lang="en-US" altLang="ko-KR" dirty="0"/>
              <a:t>'</a:t>
            </a:r>
            <a:r>
              <a:rPr lang="ko-KR" altLang="en-US" dirty="0"/>
              <a:t>이라는 단어를 처리할 때</a:t>
            </a:r>
            <a:r>
              <a:rPr lang="en-US" altLang="ko-KR" dirty="0"/>
              <a:t>, </a:t>
            </a:r>
            <a:r>
              <a:rPr lang="ko-KR" altLang="en-US" dirty="0"/>
              <a:t>모델은 </a:t>
            </a:r>
            <a:r>
              <a:rPr lang="en-US" altLang="ko-KR" dirty="0"/>
              <a:t>'</a:t>
            </a:r>
            <a:r>
              <a:rPr lang="ko-KR" altLang="en-US" dirty="0"/>
              <a:t>밥</a:t>
            </a:r>
            <a:r>
              <a:rPr lang="en-US" altLang="ko-KR" dirty="0"/>
              <a:t>'</a:t>
            </a:r>
            <a:r>
              <a:rPr lang="ko-KR" altLang="en-US" dirty="0"/>
              <a:t>이라는 단어에 가장 높은 가중치</a:t>
            </a:r>
            <a:r>
              <a:rPr lang="en-US" altLang="ko-KR" dirty="0"/>
              <a:t>(Attention)</a:t>
            </a:r>
            <a:r>
              <a:rPr lang="ko-KR" altLang="en-US" dirty="0"/>
              <a:t>를 부여하여 </a:t>
            </a:r>
            <a:r>
              <a:rPr lang="en-US" altLang="ko-KR" dirty="0"/>
              <a:t>'</a:t>
            </a:r>
            <a:r>
              <a:rPr lang="ko-KR" altLang="en-US" dirty="0"/>
              <a:t>그것</a:t>
            </a:r>
            <a:r>
              <a:rPr lang="en-US" altLang="ko-KR" dirty="0"/>
              <a:t>'</a:t>
            </a:r>
            <a:r>
              <a:rPr lang="ko-KR" altLang="en-US" dirty="0"/>
              <a:t>이 밥을 가리킨다는 것을 명확히 이해합니다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</a:t>
            </a:r>
            <a:r>
              <a:rPr lang="ko-KR" altLang="en-US" dirty="0" err="1"/>
              <a:t>어텐션</a:t>
            </a:r>
            <a:r>
              <a:rPr lang="ko-KR" altLang="en-US" dirty="0"/>
              <a:t> 덕분에 </a:t>
            </a:r>
            <a:r>
              <a:rPr lang="en-US" altLang="ko-KR" dirty="0"/>
              <a:t>LLM</a:t>
            </a:r>
            <a:r>
              <a:rPr lang="ko-KR" altLang="en-US" dirty="0"/>
              <a:t>은 문맥을 깊이 이해하고 복잡한 논리적 관계를 포착하여 정확한 결과물을 생성할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963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7512E-93C7-C0C6-63EF-911ACDF9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학습 방식의 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62B8B6-8251-15B5-E7F3-2D7A4F83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</a:t>
            </a:r>
            <a:r>
              <a:rPr lang="ko-KR" altLang="en-US" dirty="0"/>
              <a:t>은 단순히 대규모 데이터를 읽는 것을 넘어</a:t>
            </a:r>
            <a:r>
              <a:rPr lang="en-US" altLang="ko-KR" dirty="0"/>
              <a:t>, </a:t>
            </a:r>
            <a:r>
              <a:rPr lang="ko-KR" altLang="en-US" dirty="0"/>
              <a:t>사람의 피드백을 통해 성능을 개선합니다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사전 훈련 </a:t>
            </a:r>
            <a:r>
              <a:rPr lang="en-US" altLang="ko-KR" dirty="0"/>
              <a:t>(Pre-training):</a:t>
            </a:r>
            <a:r>
              <a:rPr lang="ko-KR" altLang="en-US" dirty="0"/>
              <a:t> 방대한 텍스트 데이터</a:t>
            </a:r>
            <a:r>
              <a:rPr lang="en-US" altLang="ko-KR" dirty="0"/>
              <a:t>(</a:t>
            </a:r>
            <a:r>
              <a:rPr lang="ko-KR" altLang="en-US" dirty="0"/>
              <a:t>웹 문서</a:t>
            </a:r>
            <a:r>
              <a:rPr lang="en-US" altLang="ko-KR" dirty="0"/>
              <a:t>, </a:t>
            </a:r>
            <a:r>
              <a:rPr lang="ko-KR" altLang="en-US" dirty="0"/>
              <a:t>서적 등</a:t>
            </a:r>
            <a:r>
              <a:rPr lang="en-US" altLang="ko-KR" dirty="0"/>
              <a:t>)</a:t>
            </a:r>
            <a:r>
              <a:rPr lang="ko-KR" altLang="en-US" dirty="0"/>
              <a:t>를 비지도 학습 방식으로 학습하여 언어의 기본 구조와 일반 지식을 습득합니다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파인 튜닝 </a:t>
            </a:r>
            <a:r>
              <a:rPr lang="en-US" altLang="ko-KR" dirty="0"/>
              <a:t>(Fine-tuning):</a:t>
            </a:r>
            <a:r>
              <a:rPr lang="ko-KR" altLang="en-US" dirty="0"/>
              <a:t> 특정 작업을 잘 수행하도록 소규모의 고품질 데이터셋으로 모델을 추가 학습시켜 성능을 최적화합니다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RLHF</a:t>
            </a:r>
            <a:r>
              <a:rPr lang="en-US" altLang="ko-KR" dirty="0"/>
              <a:t> (Reinforcement Learning from Human Feedback):</a:t>
            </a:r>
            <a:r>
              <a:rPr lang="ko-KR" altLang="en-US" dirty="0"/>
              <a:t> 사람의 선호도를 반영하여 모델을 강화 학습시키는 과정입니다</a:t>
            </a:r>
            <a:r>
              <a:rPr lang="en-US" altLang="ko-KR" dirty="0"/>
              <a:t>. LLM</a:t>
            </a:r>
            <a:r>
              <a:rPr lang="ko-KR" altLang="en-US" dirty="0"/>
              <a:t>이 생성한 여러 답변 중 사람이 더 선호하는 답변에 높은 점수를 부여함으로써</a:t>
            </a:r>
            <a:r>
              <a:rPr lang="en-US" altLang="ko-KR" dirty="0"/>
              <a:t>, </a:t>
            </a:r>
            <a:r>
              <a:rPr lang="ko-KR" altLang="en-US" dirty="0"/>
              <a:t>모델이 윤리적이고 유용하며 안전한 답변을 하도록 훈련합니다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101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1C24C-F78B-5E09-DB9C-B91C7BDF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LLM(</a:t>
            </a:r>
            <a:r>
              <a:rPr lang="ko-KR" altLang="en-US" dirty="0"/>
              <a:t>거대 언어 모델</a:t>
            </a:r>
            <a:r>
              <a:rPr lang="en-US" altLang="ko-KR" dirty="0"/>
              <a:t>) </a:t>
            </a:r>
            <a:r>
              <a:rPr lang="ko-KR" altLang="en-US" dirty="0"/>
              <a:t>모델들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39A46-EF55-07B4-37C9-08361193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폐쇄형 </a:t>
            </a:r>
            <a:r>
              <a:rPr lang="en-US" altLang="ko-KR" dirty="0"/>
              <a:t>(Proprietary) </a:t>
            </a:r>
            <a:r>
              <a:rPr lang="ko-KR" altLang="en-US" dirty="0"/>
              <a:t>모델</a:t>
            </a:r>
            <a:r>
              <a:rPr lang="en-US" altLang="ko-KR" dirty="0"/>
              <a:t>- </a:t>
            </a:r>
            <a:r>
              <a:rPr lang="ko-KR" altLang="en-US" dirty="0"/>
              <a:t>가장 높은 성능을 보이며 상업적으로 널리 사용되지만</a:t>
            </a:r>
            <a:r>
              <a:rPr lang="en-US" altLang="ko-KR" dirty="0"/>
              <a:t>, </a:t>
            </a:r>
            <a:r>
              <a:rPr lang="ko-KR" altLang="en-US" dirty="0"/>
              <a:t>내부 구조와 학습 데이터는 공개되지 않습니다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가장 높은 성능을 보이며 상업적으로 널리 사용되지만</a:t>
            </a:r>
            <a:r>
              <a:rPr lang="en-US" altLang="ko-KR" dirty="0"/>
              <a:t>, </a:t>
            </a:r>
            <a:r>
              <a:rPr lang="ko-KR" altLang="en-US" dirty="0"/>
              <a:t>내부 구조와 학습 데이터는 공개되지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72CE01-CCE4-BB8C-F344-A6EE02D74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81999"/>
              </p:ext>
            </p:extLst>
          </p:nvPr>
        </p:nvGraphicFramePr>
        <p:xfrm>
          <a:off x="887776" y="2101425"/>
          <a:ext cx="10399006" cy="410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329">
                  <a:extLst>
                    <a:ext uri="{9D8B030D-6E8A-4147-A177-3AD203B41FA5}">
                      <a16:colId xmlns:a16="http://schemas.microsoft.com/office/drawing/2014/main" val="2571836563"/>
                    </a:ext>
                  </a:extLst>
                </a:gridCol>
                <a:gridCol w="1761300">
                  <a:extLst>
                    <a:ext uri="{9D8B030D-6E8A-4147-A177-3AD203B41FA5}">
                      <a16:colId xmlns:a16="http://schemas.microsoft.com/office/drawing/2014/main" val="1313780517"/>
                    </a:ext>
                  </a:extLst>
                </a:gridCol>
                <a:gridCol w="6776377">
                  <a:extLst>
                    <a:ext uri="{9D8B030D-6E8A-4147-A177-3AD203B41FA5}">
                      <a16:colId xmlns:a16="http://schemas.microsoft.com/office/drawing/2014/main" val="3618443609"/>
                    </a:ext>
                  </a:extLst>
                </a:gridCol>
              </a:tblGrid>
              <a:tr h="33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모델 계열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개발사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특징 및 강점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993758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GPT (Generative Pre-trained Transformer)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OpenAI</a:t>
                      </a:r>
                      <a:r>
                        <a:rPr lang="en-US"/>
                        <a:t> (Microsoft </a:t>
                      </a:r>
                      <a:r>
                        <a:rPr lang="ko-KR" altLang="en-US"/>
                        <a:t>투자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현재까지 가장 널리 알려지고 강력한 모델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특히 최신 모델인 </a:t>
                      </a:r>
                      <a:r>
                        <a:rPr lang="en-US" altLang="ko-KR" b="1"/>
                        <a:t>GPT-4</a:t>
                      </a:r>
                      <a:r>
                        <a:rPr lang="ko-KR" altLang="en-US"/>
                        <a:t>는 복잡한 추론 능력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코딩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창의적 글쓰기에서 최고 수준의 성능을 보입니다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485770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Gemini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Google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멀티모달</a:t>
                      </a:r>
                      <a:r>
                        <a:rPr lang="en-US" altLang="ko-KR" b="1"/>
                        <a:t>(Multimodal)</a:t>
                      </a:r>
                      <a:r>
                        <a:rPr lang="ko-KR" altLang="en-US"/>
                        <a:t> 기능이 통합된 것이 가장 큰 특징입니다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텍스트뿐만 아니라 이미지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오디오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비디오 등 다양한 형태의 정보를 처음부터 이해하고 처리하도록 설계되었습니다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614580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Claude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Anthropic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안전성과 윤리성을 최우선으로 설계된 모델입니다</a:t>
                      </a:r>
                      <a:r>
                        <a:rPr lang="en-US" altLang="ko-KR"/>
                        <a:t>. **</a:t>
                      </a:r>
                      <a:r>
                        <a:rPr lang="ko-KR" altLang="en-US"/>
                        <a:t>헌법적 </a:t>
                      </a:r>
                      <a:r>
                        <a:rPr lang="en-US" altLang="ko-KR"/>
                        <a:t>AI(Constitutional AI)**</a:t>
                      </a:r>
                      <a:r>
                        <a:rPr lang="ko-KR" altLang="en-US"/>
                        <a:t>라는 독특한 접근 방식을 사용하여 유해한 답변을 거부하는 데 강점을 보입니다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215989"/>
                  </a:ext>
                </a:extLst>
              </a:tr>
              <a:tr h="93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Llama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Meta</a:t>
                      </a:r>
                      <a:r>
                        <a:rPr lang="ko-KR" altLang="en-US" dirty="0"/>
                        <a:t>에서 개발했으나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일부 버전</a:t>
                      </a:r>
                      <a:r>
                        <a:rPr lang="en-US" altLang="ko-KR" dirty="0"/>
                        <a:t>(Llama 2, Llama 3)</a:t>
                      </a:r>
                      <a:r>
                        <a:rPr lang="ko-KR" altLang="en-US" dirty="0"/>
                        <a:t>이 </a:t>
                      </a:r>
                      <a:r>
                        <a:rPr lang="ko-KR" altLang="en-US" b="1" dirty="0"/>
                        <a:t>오픈 소스</a:t>
                      </a:r>
                      <a:r>
                        <a:rPr lang="ko-KR" altLang="en-US" dirty="0"/>
                        <a:t>로 공개되어 광범위한 연구 및 상업적 사용을 촉진하고 있습니다</a:t>
                      </a:r>
                      <a:r>
                        <a:rPr lang="en-US" altLang="ko-KR" dirty="0"/>
                        <a:t>. (</a:t>
                      </a:r>
                      <a:r>
                        <a:rPr lang="ko-KR" altLang="en-US" dirty="0"/>
                        <a:t>일부 폐쇄형 모델과 오픈 소스 모델의 중간적 성격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43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754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FE415-F75B-DA76-3EDC-99FC0AFD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LLM(</a:t>
            </a:r>
            <a:r>
              <a:rPr lang="ko-KR" altLang="en-US" dirty="0"/>
              <a:t>거대 언어 모델</a:t>
            </a:r>
            <a:r>
              <a:rPr lang="en-US" altLang="ko-KR" dirty="0"/>
              <a:t>) </a:t>
            </a:r>
            <a:r>
              <a:rPr lang="ko-KR" altLang="en-US" dirty="0"/>
              <a:t>모델들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C811C-1045-F317-CB52-C7FEB5EDC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오픈 소스형 </a:t>
            </a:r>
            <a:r>
              <a:rPr lang="en-US" altLang="ko-KR" dirty="0"/>
              <a:t>(Open Source) </a:t>
            </a:r>
            <a:r>
              <a:rPr lang="ko-KR" altLang="en-US" dirty="0"/>
              <a:t>모델 </a:t>
            </a:r>
            <a:r>
              <a:rPr lang="en-US" altLang="ko-KR" dirty="0"/>
              <a:t>- </a:t>
            </a:r>
            <a:r>
              <a:rPr lang="ko-KR" altLang="en-US" dirty="0"/>
              <a:t>모델의 가중치</a:t>
            </a:r>
            <a:r>
              <a:rPr lang="en-US" altLang="ko-KR" dirty="0"/>
              <a:t>(Weights)</a:t>
            </a:r>
            <a:r>
              <a:rPr lang="ko-KR" altLang="en-US" dirty="0"/>
              <a:t>와 아키텍처가 공개되어 누구나 다운로드하고 자체 서버에 구축하여 파인 튜닝</a:t>
            </a:r>
            <a:r>
              <a:rPr lang="en-US" altLang="ko-KR" dirty="0"/>
              <a:t>(</a:t>
            </a:r>
            <a:r>
              <a:rPr lang="ko-KR" altLang="en-US" dirty="0"/>
              <a:t>미세 조정</a:t>
            </a:r>
            <a:r>
              <a:rPr lang="en-US" altLang="ko-KR" dirty="0"/>
              <a:t>)</a:t>
            </a:r>
            <a:r>
              <a:rPr lang="ko-KR" altLang="en-US" dirty="0"/>
              <a:t>할 수 있습니다</a:t>
            </a:r>
            <a:r>
              <a:rPr lang="en-US" altLang="ko-KR" dirty="0"/>
              <a:t>. </a:t>
            </a:r>
            <a:r>
              <a:rPr lang="ko-KR" altLang="en-US" dirty="0"/>
              <a:t>기업의 데이터 보안 및 비용 절감에 유리합니다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56EA1A-D45D-F668-FF26-77C2D9B6C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346851"/>
              </p:ext>
            </p:extLst>
          </p:nvPr>
        </p:nvGraphicFramePr>
        <p:xfrm>
          <a:off x="1090672" y="2467023"/>
          <a:ext cx="926212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509">
                  <a:extLst>
                    <a:ext uri="{9D8B030D-6E8A-4147-A177-3AD203B41FA5}">
                      <a16:colId xmlns:a16="http://schemas.microsoft.com/office/drawing/2014/main" val="3098061686"/>
                    </a:ext>
                  </a:extLst>
                </a:gridCol>
                <a:gridCol w="2005070">
                  <a:extLst>
                    <a:ext uri="{9D8B030D-6E8A-4147-A177-3AD203B41FA5}">
                      <a16:colId xmlns:a16="http://schemas.microsoft.com/office/drawing/2014/main" val="4262955240"/>
                    </a:ext>
                  </a:extLst>
                </a:gridCol>
                <a:gridCol w="5290546">
                  <a:extLst>
                    <a:ext uri="{9D8B030D-6E8A-4147-A177-3AD203B41FA5}">
                      <a16:colId xmlns:a16="http://schemas.microsoft.com/office/drawing/2014/main" val="2532065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모델 계열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주요 개발사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특징 및 강점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318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Mixtral</a:t>
                      </a:r>
                      <a:r>
                        <a:rPr lang="en-US" b="1" dirty="0"/>
                        <a:t> / Mistral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Mistral AI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매개변수 규모 대비 </a:t>
                      </a:r>
                      <a:r>
                        <a:rPr lang="ko-KR" altLang="en-US" b="1"/>
                        <a:t>매우 뛰어난 성능</a:t>
                      </a:r>
                      <a:r>
                        <a:rPr lang="ko-KR" altLang="en-US"/>
                        <a:t>을 보여주는 유럽 기반의 모델입니다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특히 </a:t>
                      </a:r>
                      <a:r>
                        <a:rPr lang="en-US" altLang="ko-KR" b="1"/>
                        <a:t>MoE (Mixture of Experts)</a:t>
                      </a:r>
                      <a:r>
                        <a:rPr lang="ko-KR" altLang="en-US"/>
                        <a:t> 아키텍처를 사용하여 효율성과 속도를 높였습니다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2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Llama (2, 3)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오픈 소스 모델 중에서 가장 널리 채택되며 강력한 기준점</a:t>
                      </a:r>
                      <a:r>
                        <a:rPr lang="en-US" altLang="ko-KR"/>
                        <a:t>(Benchmark)</a:t>
                      </a:r>
                      <a:r>
                        <a:rPr lang="ko-KR" altLang="en-US"/>
                        <a:t>이 되고 있습니다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다양한 크기의 모델을 제공하여 소형 기기에서도 활용 가능합니다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49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Falcon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Technology Innovation Institute (TII)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UAE</a:t>
                      </a:r>
                      <a:r>
                        <a:rPr lang="ko-KR" altLang="en-US" dirty="0"/>
                        <a:t>의 연구소에서 개발되었으며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대규모 오픈 소스 모델 중 하나로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학습 데이터의 품질에 초점을 맞추어 개발되었습니다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866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72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DAD19-1EBA-F72A-2E4C-3BDC17AA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LLM(</a:t>
            </a:r>
            <a:r>
              <a:rPr lang="ko-KR" altLang="en-US" dirty="0"/>
              <a:t>거대 언어 모델</a:t>
            </a:r>
            <a:r>
              <a:rPr lang="en-US" altLang="ko-KR" dirty="0"/>
              <a:t>) </a:t>
            </a:r>
            <a:r>
              <a:rPr lang="ko-KR" altLang="en-US" dirty="0"/>
              <a:t>모델들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5BF72B-4B7D-DB6F-087A-20D8A6BA3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국내 주요 </a:t>
            </a:r>
            <a:r>
              <a:rPr lang="en-US" altLang="ko-KR" dirty="0"/>
              <a:t>LLM </a:t>
            </a:r>
            <a:r>
              <a:rPr lang="ko-KR" altLang="en-US" dirty="0"/>
              <a:t>모델 </a:t>
            </a:r>
            <a:r>
              <a:rPr lang="en-US" altLang="ko-KR" dirty="0"/>
              <a:t>- </a:t>
            </a:r>
            <a:r>
              <a:rPr lang="ko-KR" altLang="en-US" dirty="0"/>
              <a:t>한국어 데이터 학습에 강점을 가지는 국내 모델들도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1FC7164-00B5-7E3E-D41D-43B7572C5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473471"/>
              </p:ext>
            </p:extLst>
          </p:nvPr>
        </p:nvGraphicFramePr>
        <p:xfrm>
          <a:off x="1057006" y="2146300"/>
          <a:ext cx="9838675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127">
                  <a:extLst>
                    <a:ext uri="{9D8B030D-6E8A-4147-A177-3AD203B41FA5}">
                      <a16:colId xmlns:a16="http://schemas.microsoft.com/office/drawing/2014/main" val="701581501"/>
                    </a:ext>
                  </a:extLst>
                </a:gridCol>
                <a:gridCol w="1623524">
                  <a:extLst>
                    <a:ext uri="{9D8B030D-6E8A-4147-A177-3AD203B41FA5}">
                      <a16:colId xmlns:a16="http://schemas.microsoft.com/office/drawing/2014/main" val="3923374281"/>
                    </a:ext>
                  </a:extLst>
                </a:gridCol>
                <a:gridCol w="5894024">
                  <a:extLst>
                    <a:ext uri="{9D8B030D-6E8A-4147-A177-3AD203B41FA5}">
                      <a16:colId xmlns:a16="http://schemas.microsoft.com/office/drawing/2014/main" val="40819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델 계열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개발사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특징 및 강점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19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HyperCLOVA X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네이버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한국어 데이터와 국내 사용자 환경에 최적화되어 있으며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네이버의 다양한 서비스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검색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쇼핑 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와 쉽게 연동됩니다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74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A-Jax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카카오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한국어와 멀티모달 기능에 초점을 맞춰 카카오의 다양한 서비스에 적용될 예정입니다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728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Generative AI Platform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LG AI</a:t>
                      </a:r>
                      <a:r>
                        <a:rPr lang="ko-KR" altLang="en-US" b="1"/>
                        <a:t>연구원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초거대 </a:t>
                      </a:r>
                      <a:r>
                        <a:rPr lang="ko-KR" altLang="en-US" b="1" dirty="0" err="1"/>
                        <a:t>멀티모달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AI</a:t>
                      </a:r>
                      <a:r>
                        <a:rPr lang="ko-KR" altLang="en-US" dirty="0"/>
                        <a:t>를 지향하며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특히 제조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화학 등 </a:t>
                      </a:r>
                      <a:r>
                        <a:rPr lang="en-US" altLang="ko-KR" dirty="0"/>
                        <a:t>LG </a:t>
                      </a:r>
                      <a:r>
                        <a:rPr lang="ko-KR" altLang="en-US" dirty="0"/>
                        <a:t>계열사의 전문 영역 데이터 학습에 강점을 가집니다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56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017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FE93D-7B0B-DA8C-6F80-4ED49785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 (AI Transformation)</a:t>
            </a:r>
            <a:r>
              <a:rPr lang="ko-KR" altLang="en-US" dirty="0"/>
              <a:t>의 산업별 성공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589D1B-95E9-F19C-1287-E8ECF75F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제조</a:t>
            </a:r>
            <a:r>
              <a:rPr lang="en-US" altLang="ko-KR" dirty="0"/>
              <a:t>/</a:t>
            </a:r>
            <a:r>
              <a:rPr lang="ko-KR" altLang="en-US" dirty="0"/>
              <a:t>산업 분야</a:t>
            </a:r>
            <a:r>
              <a:rPr lang="en-US" altLang="ko-KR" dirty="0"/>
              <a:t>: </a:t>
            </a:r>
            <a:r>
              <a:rPr lang="ko-KR" altLang="en-US" dirty="0"/>
              <a:t>예측 유지보수 및 품질 혁신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F891C1-C667-3E90-B6E0-091DF671C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21171"/>
              </p:ext>
            </p:extLst>
          </p:nvPr>
        </p:nvGraphicFramePr>
        <p:xfrm>
          <a:off x="1019979" y="1732280"/>
          <a:ext cx="10432054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831">
                  <a:extLst>
                    <a:ext uri="{9D8B030D-6E8A-4147-A177-3AD203B41FA5}">
                      <a16:colId xmlns:a16="http://schemas.microsoft.com/office/drawing/2014/main" val="1268490709"/>
                    </a:ext>
                  </a:extLst>
                </a:gridCol>
                <a:gridCol w="1924457">
                  <a:extLst>
                    <a:ext uri="{9D8B030D-6E8A-4147-A177-3AD203B41FA5}">
                      <a16:colId xmlns:a16="http://schemas.microsoft.com/office/drawing/2014/main" val="252416873"/>
                    </a:ext>
                  </a:extLst>
                </a:gridCol>
                <a:gridCol w="6378766">
                  <a:extLst>
                    <a:ext uri="{9D8B030D-6E8A-4147-A177-3AD203B41FA5}">
                      <a16:colId xmlns:a16="http://schemas.microsoft.com/office/drawing/2014/main" val="48062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기업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적용된 </a:t>
                      </a:r>
                      <a:r>
                        <a:rPr lang="en-US"/>
                        <a:t>AI </a:t>
                      </a:r>
                      <a:r>
                        <a:rPr lang="ko-KR" altLang="en-US"/>
                        <a:t>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AX </a:t>
                      </a:r>
                      <a:r>
                        <a:rPr lang="ko-KR" altLang="en-US"/>
                        <a:t>성공 사례 및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6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GE (General Electric)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산업 </a:t>
                      </a:r>
                      <a:r>
                        <a:rPr lang="en-US" altLang="ko-KR" b="1"/>
                        <a:t>IoT </a:t>
                      </a:r>
                      <a:r>
                        <a:rPr lang="ko-KR" altLang="en-US" b="1"/>
                        <a:t>및 머신러닝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항공 엔진 예측 유지보수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제트 엔진 센서 데이터를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가 분석하여 </a:t>
                      </a:r>
                      <a:r>
                        <a:rPr lang="ko-KR" altLang="en-US" b="1"/>
                        <a:t>부품 고장 시점을 정확히 예측</a:t>
                      </a:r>
                      <a:r>
                        <a:rPr lang="ko-KR" altLang="en-US"/>
                        <a:t>하고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고장 발생 전에 필요한 유지보수를 수행합니다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이는 계획되지 않은 운휴 시간을 </a:t>
                      </a:r>
                      <a:r>
                        <a:rPr lang="ko-KR" altLang="en-US" b="1"/>
                        <a:t>최대 </a:t>
                      </a:r>
                      <a:r>
                        <a:rPr lang="en-US" altLang="ko-KR" b="1"/>
                        <a:t>20%</a:t>
                      </a:r>
                      <a:r>
                        <a:rPr lang="ko-KR" altLang="en-US"/>
                        <a:t> 줄이고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유지보수 비용을 </a:t>
                      </a:r>
                      <a:r>
                        <a:rPr lang="en-US" altLang="ko-KR" b="1"/>
                        <a:t>10% </a:t>
                      </a:r>
                      <a:r>
                        <a:rPr lang="ko-KR" altLang="en-US" b="1"/>
                        <a:t>이상</a:t>
                      </a:r>
                      <a:r>
                        <a:rPr lang="ko-KR" altLang="en-US"/>
                        <a:t> 절감했습니다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93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포스코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POSCO)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딥러닝 기반 비전 </a:t>
                      </a:r>
                      <a:r>
                        <a:rPr lang="en-US" altLang="ko-KR" b="1"/>
                        <a:t>AI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제철 공정 품질 관리</a:t>
                      </a:r>
                      <a:r>
                        <a:rPr lang="en-US" altLang="ko-KR" b="1" dirty="0"/>
                        <a:t>:</a:t>
                      </a:r>
                      <a:r>
                        <a:rPr lang="ko-KR" altLang="en-US" dirty="0"/>
                        <a:t> 뜨거운 철강 제품의 표면 결함을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비전 시스템이 실시간으로 검사합니다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사람이 검사하기 어려운 고온 환경에서 </a:t>
                      </a:r>
                      <a:r>
                        <a:rPr lang="ko-KR" altLang="en-US" b="1" dirty="0"/>
                        <a:t>불량 검출 정확도를 획기적으로 향상</a:t>
                      </a:r>
                      <a:r>
                        <a:rPr lang="ko-KR" altLang="en-US" dirty="0"/>
                        <a:t>시키고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검사 시간을 단축하여 생산성을 높였습니다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85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3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921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91B21-0728-3200-46FD-812A70C3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CFE0B-19A9-95A1-B7B4-57EAF531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 (AI Transformation)</a:t>
            </a:r>
            <a:r>
              <a:rPr lang="ko-KR" altLang="en-US" dirty="0"/>
              <a:t>의 산업별 성공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89E1B-43D9-CE34-143F-28F825085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유통</a:t>
            </a:r>
            <a:r>
              <a:rPr lang="en-US" altLang="ko-KR" dirty="0"/>
              <a:t>/</a:t>
            </a:r>
            <a:r>
              <a:rPr lang="ko-KR" altLang="en-US" dirty="0"/>
              <a:t>커머스 분야</a:t>
            </a:r>
            <a:r>
              <a:rPr lang="en-US" altLang="ko-KR" dirty="0"/>
              <a:t>: </a:t>
            </a:r>
            <a:r>
              <a:rPr lang="ko-KR" altLang="en-US" dirty="0"/>
              <a:t>초개인화 및 재고 최적화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B39DD9F-C3F4-A34E-C848-FB094BDE6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80747"/>
              </p:ext>
            </p:extLst>
          </p:nvPr>
        </p:nvGraphicFramePr>
        <p:xfrm>
          <a:off x="1019979" y="1732280"/>
          <a:ext cx="10432054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831">
                  <a:extLst>
                    <a:ext uri="{9D8B030D-6E8A-4147-A177-3AD203B41FA5}">
                      <a16:colId xmlns:a16="http://schemas.microsoft.com/office/drawing/2014/main" val="1268490709"/>
                    </a:ext>
                  </a:extLst>
                </a:gridCol>
                <a:gridCol w="1924457">
                  <a:extLst>
                    <a:ext uri="{9D8B030D-6E8A-4147-A177-3AD203B41FA5}">
                      <a16:colId xmlns:a16="http://schemas.microsoft.com/office/drawing/2014/main" val="252416873"/>
                    </a:ext>
                  </a:extLst>
                </a:gridCol>
                <a:gridCol w="6378766">
                  <a:extLst>
                    <a:ext uri="{9D8B030D-6E8A-4147-A177-3AD203B41FA5}">
                      <a16:colId xmlns:a16="http://schemas.microsoft.com/office/drawing/2014/main" val="48062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기업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산업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적용된 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AI 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기술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>
                          <a:effectLst/>
                          <a:latin typeface="Google Sans Text"/>
                        </a:rPr>
                        <a:t>AX 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성공 사례 및 효과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6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Amazon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강화 학습 및 추천 시스템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초개인화된 상품 추천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: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 고객의 검색 기록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구매 패턴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유사 고객의 행동 등을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AI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가 분석하여 상품 페이지 방문 시 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구매 전환율이 가장 높은 상품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을 실시간으로 추천합니다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. 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이는 매출 증대에 크게 기여했습니다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93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Walmart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>
                          <a:effectLst/>
                          <a:latin typeface="Google Sans Text"/>
                        </a:rPr>
                        <a:t>AI </a:t>
                      </a:r>
                      <a:r>
                        <a:rPr lang="ko-KR" altLang="en-US" b="1">
                          <a:effectLst/>
                          <a:latin typeface="Google Sans Text"/>
                        </a:rPr>
                        <a:t>기반 수요 예측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effectLst/>
                          <a:latin typeface="Google Sans Text"/>
                        </a:rPr>
                        <a:t>지능형 재고 관리</a:t>
                      </a:r>
                      <a:r>
                        <a:rPr lang="en-US" altLang="ko-KR" b="1" dirty="0">
                          <a:effectLst/>
                          <a:latin typeface="Google Sans Text"/>
                        </a:rPr>
                        <a:t>: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 지역별 날씨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계절성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판촉 계획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소셜 미디어 트렌드 등을 종합하여 상품별 수요를 정교하게 예측합니다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. 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이를 통해 </a:t>
                      </a:r>
                      <a:r>
                        <a:rPr lang="ko-KR" altLang="en-US" b="1" dirty="0">
                          <a:effectLst/>
                          <a:latin typeface="Google Sans Text"/>
                        </a:rPr>
                        <a:t>과잉 재고로 인한 손실을 줄이고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 품절을 최소화하여 공급망 효율을 극대화했습니다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85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3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012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541B-CEB7-A405-3D76-3AB4D29D0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0DB2B-EEC3-2436-804A-00AC1B8E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 (AI Transformation)</a:t>
            </a:r>
            <a:r>
              <a:rPr lang="ko-KR" altLang="en-US" dirty="0"/>
              <a:t>의 산업별 성공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DD924-5F27-DEC2-24B1-92DD12BD8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금융 분야</a:t>
            </a:r>
            <a:r>
              <a:rPr lang="en-US" altLang="ko-KR" dirty="0"/>
              <a:t>: </a:t>
            </a:r>
            <a:r>
              <a:rPr lang="ko-KR" altLang="en-US" dirty="0"/>
              <a:t>위험 관리 및 맞춤형 서비스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0DCB04A-415E-608C-8DC6-5CF08A076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1876"/>
              </p:ext>
            </p:extLst>
          </p:nvPr>
        </p:nvGraphicFramePr>
        <p:xfrm>
          <a:off x="1019979" y="1732280"/>
          <a:ext cx="10432054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831">
                  <a:extLst>
                    <a:ext uri="{9D8B030D-6E8A-4147-A177-3AD203B41FA5}">
                      <a16:colId xmlns:a16="http://schemas.microsoft.com/office/drawing/2014/main" val="1268490709"/>
                    </a:ext>
                  </a:extLst>
                </a:gridCol>
                <a:gridCol w="1924457">
                  <a:extLst>
                    <a:ext uri="{9D8B030D-6E8A-4147-A177-3AD203B41FA5}">
                      <a16:colId xmlns:a16="http://schemas.microsoft.com/office/drawing/2014/main" val="252416873"/>
                    </a:ext>
                  </a:extLst>
                </a:gridCol>
                <a:gridCol w="6378766">
                  <a:extLst>
                    <a:ext uri="{9D8B030D-6E8A-4147-A177-3AD203B41FA5}">
                      <a16:colId xmlns:a16="http://schemas.microsoft.com/office/drawing/2014/main" val="48062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기업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적용된 </a:t>
                      </a:r>
                      <a:r>
                        <a:rPr lang="en-US"/>
                        <a:t>AI </a:t>
                      </a:r>
                      <a:r>
                        <a:rPr lang="ko-KR" altLang="en-US"/>
                        <a:t>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AX </a:t>
                      </a:r>
                      <a:r>
                        <a:rPr lang="ko-KR" altLang="en-US"/>
                        <a:t>성공 사례 및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6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JP Morgan Chase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LLM </a:t>
                      </a:r>
                      <a:r>
                        <a:rPr lang="ko-KR" altLang="en-US" b="1"/>
                        <a:t>및 자연어 처리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계약 검토 자동화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'COiN'</a:t>
                      </a:r>
                      <a:r>
                        <a:rPr lang="ko-KR" altLang="en-US"/>
                        <a:t>이라는 </a:t>
                      </a:r>
                      <a:r>
                        <a:rPr lang="en-US" altLang="ko-KR"/>
                        <a:t>AI </a:t>
                      </a:r>
                      <a:r>
                        <a:rPr lang="ko-KR" altLang="en-US"/>
                        <a:t>시스템을 사용하여 복잡한 상업 대출 계약서 문서를 검토합니다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이 작업은 과거 변호사들이 수천 시간을 들여 하던 일을 </a:t>
                      </a:r>
                      <a:r>
                        <a:rPr lang="ko-KR" altLang="en-US" b="1"/>
                        <a:t>단 몇 초 만에</a:t>
                      </a:r>
                      <a:r>
                        <a:rPr lang="ko-KR" altLang="en-US"/>
                        <a:t> 완료하여 비용과 시간을 획기적으로 절감했습니다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93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Capital One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머신러닝 기반 신용 평가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리스크 기반 대출 결정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전통적인 신용 점수뿐 아니라 수백 가지의 비정형 데이터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행동 패턴 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</a:t>
                      </a:r>
                      <a:r>
                        <a:rPr lang="en-US" altLang="ko-KR"/>
                        <a:t>AI</a:t>
                      </a:r>
                      <a:r>
                        <a:rPr lang="ko-KR" altLang="en-US"/>
                        <a:t>가 분석하여 </a:t>
                      </a:r>
                      <a:r>
                        <a:rPr lang="ko-KR" altLang="en-US" b="1"/>
                        <a:t>대출 리스크를 더욱 정확하게 평가</a:t>
                      </a:r>
                      <a:r>
                        <a:rPr lang="ko-KR" altLang="en-US"/>
                        <a:t>합니다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이는 리스크를 낮추면서도 대출 승인 범위를 확대하는 데 도움을 주었습니다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85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43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369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C401-68A2-1739-E03E-DC742081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4CB44-EDC4-A49D-9775-9047BA5D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AX (AI Transformation)</a:t>
            </a:r>
            <a:r>
              <a:rPr lang="ko-KR" altLang="en-US" dirty="0"/>
              <a:t>의 산업별 성공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06A601-9056-715E-3452-41494047E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의료</a:t>
            </a:r>
            <a:r>
              <a:rPr lang="en-US" altLang="ko-KR" dirty="0"/>
              <a:t>/</a:t>
            </a:r>
            <a:r>
              <a:rPr lang="ko-KR" altLang="en-US" dirty="0"/>
              <a:t>헬스케어 분야</a:t>
            </a:r>
            <a:r>
              <a:rPr lang="en-US" altLang="ko-KR" dirty="0"/>
              <a:t>: </a:t>
            </a:r>
            <a:r>
              <a:rPr lang="ko-KR" altLang="en-US" dirty="0"/>
              <a:t>진단 혁신 및 신약 개발 가속화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C135470-D73F-8DD0-2A16-EEEFAF2B5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29061"/>
              </p:ext>
            </p:extLst>
          </p:nvPr>
        </p:nvGraphicFramePr>
        <p:xfrm>
          <a:off x="1019979" y="1732280"/>
          <a:ext cx="10432054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831">
                  <a:extLst>
                    <a:ext uri="{9D8B030D-6E8A-4147-A177-3AD203B41FA5}">
                      <a16:colId xmlns:a16="http://schemas.microsoft.com/office/drawing/2014/main" val="1268490709"/>
                    </a:ext>
                  </a:extLst>
                </a:gridCol>
                <a:gridCol w="1924457">
                  <a:extLst>
                    <a:ext uri="{9D8B030D-6E8A-4147-A177-3AD203B41FA5}">
                      <a16:colId xmlns:a16="http://schemas.microsoft.com/office/drawing/2014/main" val="252416873"/>
                    </a:ext>
                  </a:extLst>
                </a:gridCol>
                <a:gridCol w="6378766">
                  <a:extLst>
                    <a:ext uri="{9D8B030D-6E8A-4147-A177-3AD203B41FA5}">
                      <a16:colId xmlns:a16="http://schemas.microsoft.com/office/drawing/2014/main" val="48062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기업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적용된 </a:t>
                      </a:r>
                      <a:r>
                        <a:rPr lang="en-US"/>
                        <a:t>AI </a:t>
                      </a:r>
                      <a:r>
                        <a:rPr lang="ko-KR" altLang="en-US"/>
                        <a:t>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AX </a:t>
                      </a:r>
                      <a:r>
                        <a:rPr lang="ko-KR" altLang="en-US"/>
                        <a:t>성공 사례 및 효과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6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Google DeepMind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딥러닝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CNN)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유방암 조기 진단</a:t>
                      </a:r>
                      <a:r>
                        <a:rPr lang="en-US" altLang="ko-KR" b="1"/>
                        <a:t>:</a:t>
                      </a:r>
                      <a:r>
                        <a:rPr lang="ko-KR" altLang="en-US"/>
                        <a:t> 유방 촬영술</a:t>
                      </a:r>
                      <a:r>
                        <a:rPr lang="en-US" altLang="ko-KR"/>
                        <a:t>(Mammogram) </a:t>
                      </a:r>
                      <a:r>
                        <a:rPr lang="ko-KR" altLang="en-US"/>
                        <a:t>이미지에서 암세포를 탐지하는 </a:t>
                      </a:r>
                      <a:r>
                        <a:rPr lang="en-US" altLang="ko-KR"/>
                        <a:t>AI </a:t>
                      </a:r>
                      <a:r>
                        <a:rPr lang="ko-KR" altLang="en-US"/>
                        <a:t>시스템을 개발했습니다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이는 인간 전문가보다 </a:t>
                      </a:r>
                      <a:r>
                        <a:rPr lang="ko-KR" altLang="en-US" b="1"/>
                        <a:t>오진율을 낮추고</a:t>
                      </a:r>
                      <a:r>
                        <a:rPr lang="ko-KR" altLang="en-US"/>
                        <a:t> 진단 시간을 단축하는 데 성공하며 의료 영상 분야의 </a:t>
                      </a:r>
                      <a:r>
                        <a:rPr lang="en-US" altLang="ko-KR"/>
                        <a:t>AX</a:t>
                      </a:r>
                      <a:r>
                        <a:rPr lang="ko-KR" altLang="en-US"/>
                        <a:t>를 선도하고 있습니다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793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Moderna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AI </a:t>
                      </a:r>
                      <a:r>
                        <a:rPr lang="ko-KR" altLang="en-US" b="1"/>
                        <a:t>및 자동화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mRNA </a:t>
                      </a:r>
                      <a:r>
                        <a:rPr lang="ko-KR" altLang="en-US" b="1" dirty="0"/>
                        <a:t>백신 개발 가속화</a:t>
                      </a:r>
                      <a:r>
                        <a:rPr lang="en-US" altLang="ko-KR" b="1" dirty="0"/>
                        <a:t>: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와 로봇 기반의 자동화 기술을 활용하여 </a:t>
                      </a:r>
                      <a:r>
                        <a:rPr lang="en-US" altLang="ko-KR" dirty="0"/>
                        <a:t>mRNA </a:t>
                      </a:r>
                      <a:r>
                        <a:rPr lang="ko-KR" altLang="en-US" dirty="0"/>
                        <a:t>분자의 설계와 실험 과정을 최적화했습니다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이는 코로나</a:t>
                      </a:r>
                      <a:r>
                        <a:rPr lang="en-US" altLang="ko-KR" dirty="0"/>
                        <a:t>19 </a:t>
                      </a:r>
                      <a:r>
                        <a:rPr lang="ko-KR" altLang="en-US" dirty="0"/>
                        <a:t>팬데믹 당시 </a:t>
                      </a:r>
                      <a:r>
                        <a:rPr lang="ko-KR" altLang="en-US" b="1" dirty="0"/>
                        <a:t>백신 개발 기간을 획기적으로 단축</a:t>
                      </a:r>
                      <a:r>
                        <a:rPr lang="ko-KR" altLang="en-US" dirty="0"/>
                        <a:t>하는 데 결정적인 역할을 했습니다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850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6954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82F37-8A40-C49C-527A-CA5F8FAB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RAG</a:t>
            </a:r>
            <a:r>
              <a:rPr lang="ko-KR" altLang="en-US" dirty="0"/>
              <a:t>란</a:t>
            </a:r>
            <a:r>
              <a:rPr lang="en-US" altLang="ko-KR" dirty="0"/>
              <a:t>? (Retrieval-Augmented Generation)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3E5DC7-1DE3-3CFC-0A48-CDBFFCC4A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RAG (Retrieval-Augmented Generation, </a:t>
            </a:r>
            <a:r>
              <a:rPr lang="ko-KR" altLang="en-US" dirty="0"/>
              <a:t>검색 증강 생성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LLM (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의 한계를 보완하고 정확성과 신뢰성을 높이기 위해 개발된 고급 생성형 </a:t>
            </a:r>
            <a:r>
              <a:rPr lang="en-US" altLang="ko-KR" dirty="0"/>
              <a:t>AI </a:t>
            </a:r>
            <a:r>
              <a:rPr lang="ko-KR" altLang="en-US" dirty="0"/>
              <a:t>프레임워크입니다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쉽게 말해</a:t>
            </a:r>
            <a:r>
              <a:rPr lang="en-US" altLang="ko-KR" dirty="0"/>
              <a:t>, LLM</a:t>
            </a:r>
            <a:r>
              <a:rPr lang="ko-KR" altLang="en-US" dirty="0"/>
              <a:t>이 </a:t>
            </a:r>
            <a:r>
              <a:rPr lang="en-US" altLang="ko-KR" dirty="0"/>
              <a:t>'</a:t>
            </a:r>
            <a:r>
              <a:rPr lang="ko-KR" altLang="en-US" dirty="0"/>
              <a:t>자신의 지식</a:t>
            </a:r>
            <a:r>
              <a:rPr lang="en-US" altLang="ko-KR" dirty="0"/>
              <a:t>'</a:t>
            </a:r>
            <a:r>
              <a:rPr lang="ko-KR" altLang="en-US" dirty="0"/>
              <a:t>만으로 답변하는 것이 아니라</a:t>
            </a:r>
            <a:r>
              <a:rPr lang="en-US" altLang="ko-KR" dirty="0"/>
              <a:t>, </a:t>
            </a:r>
            <a:r>
              <a:rPr lang="ko-KR" altLang="en-US" dirty="0"/>
              <a:t>사용자의 질문과 관련된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‘</a:t>
            </a:r>
            <a:r>
              <a:rPr lang="ko-KR" altLang="en-US" dirty="0"/>
              <a:t>외부 자료</a:t>
            </a:r>
            <a:r>
              <a:rPr lang="en-US" altLang="ko-KR" dirty="0"/>
              <a:t>(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데이터베이스</a:t>
            </a:r>
            <a:r>
              <a:rPr lang="en-US" altLang="ko-KR" dirty="0"/>
              <a:t>)</a:t>
            </a:r>
            <a:r>
              <a:rPr lang="ko-KR" altLang="en-US" dirty="0"/>
              <a:t>를 검색</a:t>
            </a:r>
            <a:r>
              <a:rPr lang="en-US" altLang="ko-KR" dirty="0"/>
              <a:t>'</a:t>
            </a:r>
            <a:r>
              <a:rPr lang="ko-KR" altLang="en-US" dirty="0"/>
              <a:t>하여 그 정보를 참고한 뒤 답변을 생성하도록 돕는 기술입니다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270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37FF1-4C27-A6AF-5D77-F6939523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RAG</a:t>
            </a:r>
            <a:r>
              <a:rPr lang="ko-KR" altLang="en-US" dirty="0"/>
              <a:t>가 필요한 이유 </a:t>
            </a:r>
            <a:r>
              <a:rPr lang="en-US" altLang="ko-KR" dirty="0"/>
              <a:t>(LLM</a:t>
            </a:r>
            <a:r>
              <a:rPr lang="ko-KR" altLang="en-US" dirty="0"/>
              <a:t>의 한계 극복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F8871-0D7B-2A3A-F293-396AA85A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은 방대한 데이터를 학습하지만</a:t>
            </a:r>
            <a:r>
              <a:rPr lang="en-US" altLang="ko-KR" dirty="0"/>
              <a:t>, </a:t>
            </a:r>
            <a:r>
              <a:rPr lang="ko-KR" altLang="en-US" dirty="0"/>
              <a:t>다음과 같은 근본적인 한계가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환각</a:t>
            </a:r>
            <a:r>
              <a:rPr lang="en-US" altLang="ko-KR" dirty="0"/>
              <a:t>(Hallucination):</a:t>
            </a:r>
            <a:r>
              <a:rPr lang="ko-KR" altLang="en-US" dirty="0"/>
              <a:t> 학습하지 않은 정보나 존재하지 않는 사실을 마치 진실인 것처럼 그럴듯하게 지어내는 현상</a:t>
            </a:r>
            <a:r>
              <a:rPr lang="en-US" altLang="ko-KR" dirty="0"/>
              <a:t>. (</a:t>
            </a:r>
            <a:r>
              <a:rPr lang="ko-KR" altLang="en-US" dirty="0"/>
              <a:t>가장 큰 문제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정보의 </a:t>
            </a:r>
            <a:r>
              <a:rPr lang="ko-KR" altLang="en-US" dirty="0" err="1"/>
              <a:t>최신성</a:t>
            </a:r>
            <a:r>
              <a:rPr lang="ko-KR" altLang="en-US" dirty="0"/>
              <a:t> 부족</a:t>
            </a:r>
            <a:r>
              <a:rPr lang="en-US" altLang="ko-KR" dirty="0"/>
              <a:t>:</a:t>
            </a:r>
            <a:r>
              <a:rPr lang="ko-KR" altLang="en-US" dirty="0"/>
              <a:t> 학습이 완료된 시점 이후의 새로운 정보나 내부 기업 정보는 알지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투명성 부족</a:t>
            </a:r>
            <a:r>
              <a:rPr lang="en-US" altLang="ko-KR" dirty="0"/>
              <a:t>:</a:t>
            </a:r>
            <a:r>
              <a:rPr lang="ko-KR" altLang="en-US" dirty="0"/>
              <a:t> 답변의 근거를 명확하게 제시하기 어려움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RAG</a:t>
            </a:r>
            <a:r>
              <a:rPr lang="ko-KR" altLang="en-US" dirty="0"/>
              <a:t>는 이러한 문제를 해결하고 </a:t>
            </a:r>
            <a:r>
              <a:rPr lang="en-US" altLang="ko-KR" dirty="0"/>
              <a:t>LLM</a:t>
            </a:r>
            <a:r>
              <a:rPr lang="ko-KR" altLang="en-US" dirty="0"/>
              <a:t>을 실제 업무 환경에 적용하는 핵심 방법입니다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041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20A0B-2CBA-9CE7-E7D1-9935B681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의 작동 원리 </a:t>
            </a:r>
            <a:r>
              <a:rPr lang="en-US" altLang="ko-KR" dirty="0"/>
              <a:t>(3</a:t>
            </a:r>
            <a:r>
              <a:rPr lang="ko-KR" altLang="en-US" dirty="0"/>
              <a:t>단계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95F24-35E2-11BB-F5F2-62E6A0E1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는 질문이 들어왔을 때</a:t>
            </a:r>
            <a:r>
              <a:rPr lang="en-US" altLang="ko-KR" dirty="0"/>
              <a:t>, LLM</a:t>
            </a:r>
            <a:r>
              <a:rPr lang="ko-KR" altLang="en-US" dirty="0"/>
              <a:t>이 답변을 생성하기 전에 정보를 검색하고 준비하는 단계를 추가합니다</a:t>
            </a:r>
            <a:r>
              <a:rPr lang="en-US" altLang="ko-KR" dirty="0"/>
              <a:t>.	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E01A1D1-751C-6D83-5BD5-38A6F4666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569196"/>
              </p:ext>
            </p:extLst>
          </p:nvPr>
        </p:nvGraphicFramePr>
        <p:xfrm>
          <a:off x="986010" y="2157368"/>
          <a:ext cx="9843571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137">
                  <a:extLst>
                    <a:ext uri="{9D8B030D-6E8A-4147-A177-3AD203B41FA5}">
                      <a16:colId xmlns:a16="http://schemas.microsoft.com/office/drawing/2014/main" val="667459650"/>
                    </a:ext>
                  </a:extLst>
                </a:gridCol>
                <a:gridCol w="2088052">
                  <a:extLst>
                    <a:ext uri="{9D8B030D-6E8A-4147-A177-3AD203B41FA5}">
                      <a16:colId xmlns:a16="http://schemas.microsoft.com/office/drawing/2014/main" val="696486089"/>
                    </a:ext>
                  </a:extLst>
                </a:gridCol>
                <a:gridCol w="5653382">
                  <a:extLst>
                    <a:ext uri="{9D8B030D-6E8A-4147-A177-3AD203B41FA5}">
                      <a16:colId xmlns:a16="http://schemas.microsoft.com/office/drawing/2014/main" val="3246863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상세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29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1. </a:t>
                      </a:r>
                      <a:r>
                        <a:rPr lang="ko-KR" altLang="en-US" b="1"/>
                        <a:t>검색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Retrieval)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외부 지식 탐색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사용자의 질문</a:t>
                      </a:r>
                      <a:r>
                        <a:rPr lang="en-US" altLang="ko-KR"/>
                        <a:t>(Query)</a:t>
                      </a:r>
                      <a:r>
                        <a:rPr lang="ko-KR" altLang="en-US"/>
                        <a:t>을 분석하여 기업 내부 문서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데이터베이스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최신 웹 기사 등 </a:t>
                      </a:r>
                      <a:r>
                        <a:rPr lang="ko-KR" altLang="en-US" b="1"/>
                        <a:t>외부 지식 저장소</a:t>
                      </a:r>
                      <a:r>
                        <a:rPr lang="ko-KR" altLang="en-US"/>
                        <a:t>에서 **가장 관련성이 높은 문서 조각</a:t>
                      </a:r>
                      <a:r>
                        <a:rPr lang="en-US" altLang="ko-KR"/>
                        <a:t>(Chunk)**</a:t>
                      </a:r>
                      <a:r>
                        <a:rPr lang="ko-KR" altLang="en-US"/>
                        <a:t>들을 검색합니다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33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2. </a:t>
                      </a:r>
                      <a:r>
                        <a:rPr lang="ko-KR" altLang="en-US" b="1"/>
                        <a:t>증강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Augmentation)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질문 재구성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검색된 관련 문서 조각들과 원래의 질문을 합쳐서 </a:t>
                      </a:r>
                      <a:r>
                        <a:rPr lang="en-US" altLang="ko-KR"/>
                        <a:t>LLM</a:t>
                      </a:r>
                      <a:r>
                        <a:rPr lang="ko-KR" altLang="en-US"/>
                        <a:t>에게 던져줄 </a:t>
                      </a:r>
                      <a:r>
                        <a:rPr lang="ko-KR" altLang="en-US" b="1"/>
                        <a:t>하나의 프롬프트</a:t>
                      </a:r>
                      <a:r>
                        <a:rPr lang="ko-KR" altLang="en-US"/>
                        <a:t>로 만듭니다</a:t>
                      </a:r>
                      <a:r>
                        <a:rPr lang="en-US" altLang="ko-KR"/>
                        <a:t>. 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"</a:t>
                      </a:r>
                      <a:r>
                        <a:rPr lang="ko-KR" altLang="en-US"/>
                        <a:t>다음 문서들을 참고하여 </a:t>
                      </a:r>
                      <a:r>
                        <a:rPr lang="en-US" altLang="ko-KR"/>
                        <a:t>[</a:t>
                      </a:r>
                      <a:r>
                        <a:rPr lang="ko-KR" altLang="en-US"/>
                        <a:t>원래 질문</a:t>
                      </a:r>
                      <a:r>
                        <a:rPr lang="en-US" altLang="ko-KR"/>
                        <a:t>]</a:t>
                      </a:r>
                      <a:r>
                        <a:rPr lang="ko-KR" altLang="en-US"/>
                        <a:t>에 답해줘</a:t>
                      </a:r>
                      <a:r>
                        <a:rPr lang="en-US" altLang="ko-KR"/>
                        <a:t>.")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30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3. </a:t>
                      </a:r>
                      <a:r>
                        <a:rPr lang="ko-KR" altLang="en-US" b="1"/>
                        <a:t>생성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Generation)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답변 생성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LLM</a:t>
                      </a:r>
                      <a:r>
                        <a:rPr lang="ko-KR" altLang="en-US" dirty="0"/>
                        <a:t>은 새로 증강된 프롬프트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외부 지식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질문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</a:t>
                      </a:r>
                      <a:r>
                        <a:rPr lang="ko-KR" altLang="en-US" dirty="0" err="1"/>
                        <a:t>입력받아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/>
                        <a:t>외부 지식에 근거</a:t>
                      </a:r>
                      <a:r>
                        <a:rPr lang="ko-KR" altLang="en-US" dirty="0"/>
                        <a:t>하여 정확하고 신뢰성 있는 답변을 생성합니다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574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959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303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78B69-07E2-367F-52AB-ED70D4D8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RAG</a:t>
            </a:r>
            <a:r>
              <a:rPr lang="ko-KR" altLang="en-US" dirty="0"/>
              <a:t>의 주요 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71AB2-A105-7B43-8EDE-005A06B3B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정확성 및 신뢰성 증대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이 검증된 외부 정보를 참고하여 답변하기 때문에 환각 현상이 크게 줄어듭니다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정보의 </a:t>
            </a:r>
            <a:r>
              <a:rPr lang="ko-KR" altLang="en-US" dirty="0" err="1"/>
              <a:t>최신성</a:t>
            </a:r>
            <a:r>
              <a:rPr lang="ko-KR" altLang="en-US" dirty="0"/>
              <a:t> 확보</a:t>
            </a:r>
            <a:r>
              <a:rPr lang="en-US" altLang="ko-KR" dirty="0"/>
              <a:t>:</a:t>
            </a:r>
            <a:r>
              <a:rPr lang="ko-KR" altLang="en-US" dirty="0"/>
              <a:t> 실시간으로 업데이트되는 데이터베이스나 최신 문서를 참조하여 답변할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투명성 </a:t>
            </a:r>
            <a:r>
              <a:rPr lang="en-US" altLang="ko-KR" dirty="0"/>
              <a:t>(</a:t>
            </a:r>
            <a:r>
              <a:rPr lang="ko-KR" altLang="en-US" dirty="0"/>
              <a:t>참고 문헌 제공</a:t>
            </a:r>
            <a:r>
              <a:rPr lang="en-US" altLang="ko-KR" dirty="0"/>
              <a:t>):</a:t>
            </a:r>
            <a:r>
              <a:rPr lang="ko-KR" altLang="en-US" dirty="0"/>
              <a:t> 답변 시</a:t>
            </a:r>
            <a:r>
              <a:rPr lang="en-US" altLang="ko-KR" dirty="0"/>
              <a:t>, </a:t>
            </a:r>
            <a:r>
              <a:rPr lang="ko-KR" altLang="en-US" dirty="0"/>
              <a:t>참조한 외부 문서나 출처를 함께 제시할 수 있어 사용자가 정보의 근거를 확인할 수 있습니다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비용 효율성</a:t>
            </a:r>
            <a:r>
              <a:rPr lang="en-US" altLang="ko-KR" dirty="0"/>
              <a:t>:</a:t>
            </a:r>
            <a:r>
              <a:rPr lang="ko-KR" altLang="en-US" dirty="0"/>
              <a:t> 모델 전체를 새로 학습</a:t>
            </a:r>
            <a:r>
              <a:rPr lang="en-US" altLang="ko-KR" dirty="0"/>
              <a:t>(</a:t>
            </a:r>
            <a:r>
              <a:rPr lang="ko-KR" altLang="en-US" dirty="0"/>
              <a:t>파인 튜닝</a:t>
            </a:r>
            <a:r>
              <a:rPr lang="en-US" altLang="ko-KR" dirty="0"/>
              <a:t>)</a:t>
            </a:r>
            <a:r>
              <a:rPr lang="ko-KR" altLang="en-US" dirty="0"/>
              <a:t>할 필요 없이</a:t>
            </a:r>
            <a:r>
              <a:rPr lang="en-US" altLang="ko-KR" dirty="0"/>
              <a:t>, </a:t>
            </a:r>
            <a:r>
              <a:rPr lang="ko-KR" altLang="en-US" dirty="0"/>
              <a:t>검색 시스템만 업데이트하면 되므로 유지 보수 비용이 절감됩니다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RAG</a:t>
            </a:r>
            <a:r>
              <a:rPr lang="ko-KR" altLang="en-US" dirty="0"/>
              <a:t>는 기업들이 자체 데이터</a:t>
            </a:r>
            <a:r>
              <a:rPr lang="en-US" altLang="ko-KR" dirty="0"/>
              <a:t>(</a:t>
            </a:r>
            <a:r>
              <a:rPr lang="ko-KR" altLang="en-US" dirty="0"/>
              <a:t>매뉴얼</a:t>
            </a:r>
            <a:r>
              <a:rPr lang="en-US" altLang="ko-KR" dirty="0"/>
              <a:t>, </a:t>
            </a:r>
            <a:r>
              <a:rPr lang="ko-KR" altLang="en-US" dirty="0"/>
              <a:t>규정</a:t>
            </a:r>
            <a:r>
              <a:rPr lang="en-US" altLang="ko-KR" dirty="0"/>
              <a:t>, </a:t>
            </a:r>
            <a:r>
              <a:rPr lang="ko-KR" altLang="en-US" dirty="0"/>
              <a:t>고객 데이터</a:t>
            </a:r>
            <a:r>
              <a:rPr lang="en-US" altLang="ko-KR" dirty="0"/>
              <a:t>)</a:t>
            </a:r>
            <a:r>
              <a:rPr lang="ko-KR" altLang="en-US" dirty="0"/>
              <a:t>를 기반으로 하는 맞춤형 </a:t>
            </a:r>
            <a:r>
              <a:rPr lang="en-US" altLang="ko-KR" dirty="0"/>
              <a:t>AI </a:t>
            </a:r>
            <a:r>
              <a:rPr lang="ko-KR" altLang="en-US" dirty="0" err="1"/>
              <a:t>챗봇을</a:t>
            </a:r>
            <a:r>
              <a:rPr lang="ko-KR" altLang="en-US" dirty="0"/>
              <a:t> 구축할 때 필수적으로 사용하는 기술입니다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0384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E26DA-E6D6-067A-1174-1B16D6FE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랭체인</a:t>
            </a:r>
            <a:r>
              <a:rPr lang="en-US" altLang="ko-KR" dirty="0"/>
              <a:t>(</a:t>
            </a:r>
            <a:r>
              <a:rPr lang="en-US" altLang="ko-KR" dirty="0" err="1"/>
              <a:t>LangChain</a:t>
            </a:r>
            <a:r>
              <a:rPr lang="en-US" altLang="ko-KR" dirty="0"/>
              <a:t>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E20578-285C-CBB5-B704-D8EFFBD1C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err="1"/>
              <a:t>랭체인</a:t>
            </a:r>
            <a:r>
              <a:rPr lang="en-US" altLang="ko-KR" dirty="0"/>
              <a:t>(</a:t>
            </a:r>
            <a:r>
              <a:rPr lang="en-US" altLang="ko-KR" dirty="0" err="1"/>
              <a:t>LangChain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LLM</a:t>
            </a:r>
            <a:r>
              <a:rPr lang="ko-KR" altLang="en-US" dirty="0"/>
              <a:t>을 활용하여 복잡하고 실용적인 애플리케이션을 쉽게 개발할 수 있도록 돕는 </a:t>
            </a:r>
            <a:r>
              <a:rPr lang="ko-KR" altLang="en-US" dirty="0">
                <a:solidFill>
                  <a:srgbClr val="C00000"/>
                </a:solidFill>
              </a:rPr>
              <a:t>오픈 소스 개발 프레임워크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이 가진 잠재력을 최대한 끌어내어 단순한 질문</a:t>
            </a:r>
            <a:r>
              <a:rPr lang="en-US" altLang="ko-KR" dirty="0"/>
              <a:t>-</a:t>
            </a:r>
            <a:r>
              <a:rPr lang="ko-KR" altLang="en-US" dirty="0"/>
              <a:t>답변을 넘어</a:t>
            </a:r>
            <a:r>
              <a:rPr lang="en-US" altLang="ko-KR" dirty="0"/>
              <a:t>, </a:t>
            </a:r>
            <a:r>
              <a:rPr lang="ko-KR" altLang="en-US" dirty="0"/>
              <a:t>실제 업무에 활용 가능한 </a:t>
            </a:r>
            <a:r>
              <a:rPr lang="ko-KR" altLang="en-US" dirty="0">
                <a:solidFill>
                  <a:srgbClr val="C00000"/>
                </a:solidFill>
              </a:rPr>
              <a:t>지능형 서비스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에이전트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/>
              <a:t>를 만드는 데 필수적인 역할을 합니다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랭체인이</a:t>
            </a:r>
            <a:r>
              <a:rPr lang="ko-KR" altLang="en-US" dirty="0"/>
              <a:t> 해결하는 문제 </a:t>
            </a:r>
            <a:r>
              <a:rPr lang="en-US" altLang="ko-KR" dirty="0"/>
              <a:t>(</a:t>
            </a:r>
            <a:r>
              <a:rPr lang="ko-KR" altLang="en-US" dirty="0"/>
              <a:t>왜 필요한가</a:t>
            </a:r>
            <a:r>
              <a:rPr lang="en-US" altLang="ko-KR" dirty="0"/>
              <a:t>?)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은 똑똑하지만</a:t>
            </a:r>
            <a:r>
              <a:rPr lang="en-US" altLang="ko-KR" dirty="0"/>
              <a:t>, API </a:t>
            </a:r>
            <a:r>
              <a:rPr lang="ko-KR" altLang="en-US" dirty="0"/>
              <a:t>호출 외에 스스로는 다음과 같은 작업을 수행할 수 없습니다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외부 최신 정보 검색</a:t>
            </a:r>
            <a:r>
              <a:rPr lang="en-US" altLang="ko-KR" dirty="0"/>
              <a:t>:</a:t>
            </a:r>
            <a:r>
              <a:rPr lang="ko-KR" altLang="en-US" dirty="0"/>
              <a:t> 학습 시점 이후의 정보를 알지 못합니다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데이터베이스 접근</a:t>
            </a:r>
            <a:r>
              <a:rPr lang="en-US" altLang="ko-KR" dirty="0"/>
              <a:t>:</a:t>
            </a:r>
            <a:r>
              <a:rPr lang="ko-KR" altLang="en-US" dirty="0"/>
              <a:t> 기업 내부의 </a:t>
            </a:r>
            <a:r>
              <a:rPr lang="en-US" altLang="ko-KR" dirty="0"/>
              <a:t>PDF, Word, DB </a:t>
            </a:r>
            <a:r>
              <a:rPr lang="ko-KR" altLang="en-US" dirty="0"/>
              <a:t>등 사설 데이터를 활용할 수 없습니다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다단계 논리 수행</a:t>
            </a:r>
            <a:r>
              <a:rPr lang="en-US" altLang="ko-KR" dirty="0"/>
              <a:t>:</a:t>
            </a:r>
            <a:r>
              <a:rPr lang="ko-KR" altLang="en-US" dirty="0"/>
              <a:t> 여러 단계를 거쳐야 하는 복잡한 작업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ko-KR" altLang="en-US" dirty="0"/>
              <a:t>요약 </a:t>
            </a:r>
            <a:r>
              <a:rPr lang="en-US" altLang="ko-KR" dirty="0"/>
              <a:t>-&gt; 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r>
              <a:rPr lang="ko-KR" altLang="en-US" dirty="0"/>
              <a:t>을 한 번에 처리하기 어렵습니다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랭체인은</a:t>
            </a:r>
            <a:r>
              <a:rPr lang="ko-KR" altLang="en-US" dirty="0"/>
              <a:t> 이러한 외부 기능을 </a:t>
            </a:r>
            <a:r>
              <a:rPr lang="en-US" altLang="ko-KR" dirty="0"/>
              <a:t>LLM</a:t>
            </a:r>
            <a:r>
              <a:rPr lang="ko-KR" altLang="en-US" dirty="0"/>
              <a:t>에 연결하고 조합하여 </a:t>
            </a:r>
            <a:r>
              <a:rPr lang="en-US" altLang="ko-KR" dirty="0"/>
              <a:t>LLM</a:t>
            </a:r>
            <a:r>
              <a:rPr lang="ko-KR" altLang="en-US" dirty="0"/>
              <a:t>의 능력을 확장합니다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309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7FC35-838C-AB87-E81D-F234BE28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랭체인의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가지 핵심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A53D3-8AC9-FC1A-3FA5-D13625F8C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랭체인은</a:t>
            </a:r>
            <a:r>
              <a:rPr lang="ko-KR" altLang="en-US" dirty="0"/>
              <a:t> </a:t>
            </a:r>
            <a:r>
              <a:rPr lang="en-US" altLang="ko-KR" dirty="0"/>
              <a:t>LLM </a:t>
            </a:r>
            <a:r>
              <a:rPr lang="ko-KR" altLang="en-US" dirty="0"/>
              <a:t>기반 애플리케이션을 구축하는 데 필요한 상호 운용 가능한 모듈들을 제공합니다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FD44122-D0E7-43B3-8927-00E7DDB10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80610"/>
              </p:ext>
            </p:extLst>
          </p:nvPr>
        </p:nvGraphicFramePr>
        <p:xfrm>
          <a:off x="963364" y="2063295"/>
          <a:ext cx="9959860" cy="4552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687">
                  <a:extLst>
                    <a:ext uri="{9D8B030D-6E8A-4147-A177-3AD203B41FA5}">
                      <a16:colId xmlns:a16="http://schemas.microsoft.com/office/drawing/2014/main" val="1779973048"/>
                    </a:ext>
                  </a:extLst>
                </a:gridCol>
                <a:gridCol w="2308033">
                  <a:extLst>
                    <a:ext uri="{9D8B030D-6E8A-4147-A177-3AD203B41FA5}">
                      <a16:colId xmlns:a16="http://schemas.microsoft.com/office/drawing/2014/main" val="3465497375"/>
                    </a:ext>
                  </a:extLst>
                </a:gridCol>
                <a:gridCol w="6296140">
                  <a:extLst>
                    <a:ext uri="{9D8B030D-6E8A-4147-A177-3AD203B41FA5}">
                      <a16:colId xmlns:a16="http://schemas.microsoft.com/office/drawing/2014/main" val="3484177879"/>
                    </a:ext>
                  </a:extLst>
                </a:gridCol>
              </a:tblGrid>
              <a:tr h="310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구성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상세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55546"/>
                  </a:ext>
                </a:extLst>
              </a:tr>
              <a:tr h="536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I/O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모델과의 인터페이스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LLM API(GPT-4, Gemini </a:t>
                      </a:r>
                      <a:r>
                        <a:rPr lang="ko-KR" altLang="en-US"/>
                        <a:t>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와의 연동을 담당합니다</a:t>
                      </a:r>
                      <a:r>
                        <a:rPr lang="en-US" altLang="ko-KR"/>
                        <a:t>. (</a:t>
                      </a:r>
                      <a:r>
                        <a:rPr lang="ko-KR" altLang="en-US"/>
                        <a:t>입력 프롬프트 관리 및 출력 파싱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82274"/>
                  </a:ext>
                </a:extLst>
              </a:tr>
              <a:tr h="996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Retrieval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정보 검색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RAG </a:t>
                      </a:r>
                      <a:r>
                        <a:rPr lang="ko-KR" altLang="en-US"/>
                        <a:t>시스템 구축의 핵심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외부 문서</a:t>
                      </a:r>
                      <a:r>
                        <a:rPr lang="en-US" altLang="ko-KR"/>
                        <a:t>(PDF, DB </a:t>
                      </a:r>
                      <a:r>
                        <a:rPr lang="ko-KR" altLang="en-US"/>
                        <a:t>등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불러오고</a:t>
                      </a:r>
                      <a:r>
                        <a:rPr lang="en-US" altLang="ko-KR"/>
                        <a:t>(Loader), </a:t>
                      </a:r>
                      <a:r>
                        <a:rPr lang="ko-KR" altLang="en-US"/>
                        <a:t>분할</a:t>
                      </a:r>
                      <a:r>
                        <a:rPr lang="en-US" altLang="ko-KR"/>
                        <a:t>(Split)</a:t>
                      </a:r>
                      <a:r>
                        <a:rPr lang="ko-KR" altLang="en-US"/>
                        <a:t>하여 벡터 데이터베이스</a:t>
                      </a:r>
                      <a:r>
                        <a:rPr lang="en-US" altLang="ko-KR"/>
                        <a:t>(Vector Store)</a:t>
                      </a:r>
                      <a:r>
                        <a:rPr lang="ko-KR" altLang="en-US"/>
                        <a:t>에서 검색</a:t>
                      </a:r>
                      <a:r>
                        <a:rPr lang="en-US" altLang="ko-KR"/>
                        <a:t>(Retriever)</a:t>
                      </a:r>
                      <a:r>
                        <a:rPr lang="ko-KR" altLang="en-US"/>
                        <a:t>하는 기능을 제공합니다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1883767"/>
                  </a:ext>
                </a:extLst>
              </a:tr>
              <a:tr h="766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Chains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작업의 순차적 조합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여러 </a:t>
                      </a:r>
                      <a:r>
                        <a:rPr lang="en-US" altLang="ko-KR"/>
                        <a:t>LLM </a:t>
                      </a:r>
                      <a:r>
                        <a:rPr lang="ko-KR" altLang="en-US"/>
                        <a:t>호출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데이터 처리 단계를 </a:t>
                      </a:r>
                      <a:r>
                        <a:rPr lang="ko-KR" altLang="en-US" b="1"/>
                        <a:t>순서대로 연결</a:t>
                      </a:r>
                      <a:r>
                        <a:rPr lang="ko-KR" altLang="en-US"/>
                        <a:t>하여 하나의 복잡한 작업을 만듭니다</a:t>
                      </a:r>
                      <a:r>
                        <a:rPr lang="en-US" altLang="ko-KR"/>
                        <a:t>. 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문서 로드 </a:t>
                      </a:r>
                      <a:r>
                        <a:rPr lang="en-US" altLang="ko-KR"/>
                        <a:t>-&gt; </a:t>
                      </a:r>
                      <a:r>
                        <a:rPr lang="ko-KR" altLang="en-US"/>
                        <a:t>질문 </a:t>
                      </a:r>
                      <a:r>
                        <a:rPr lang="en-US" altLang="ko-KR"/>
                        <a:t>-&gt; LLM </a:t>
                      </a:r>
                      <a:r>
                        <a:rPr lang="ko-KR" altLang="en-US"/>
                        <a:t>답변 생성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81335"/>
                  </a:ext>
                </a:extLst>
              </a:tr>
              <a:tr h="996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Agents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지능형 행동 결정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LLM</a:t>
                      </a:r>
                      <a:r>
                        <a:rPr lang="ko-KR" altLang="en-US"/>
                        <a:t>이 주어진 목표를 달성하기 위해 어떤 **외부 도구</a:t>
                      </a:r>
                      <a:r>
                        <a:rPr lang="en-US" altLang="ko-KR"/>
                        <a:t>(Tool)**</a:t>
                      </a:r>
                      <a:r>
                        <a:rPr lang="ko-KR" altLang="en-US"/>
                        <a:t>를 언제 사용할지 스스로 결정하게 만드는 기능입니다</a:t>
                      </a:r>
                      <a:r>
                        <a:rPr lang="en-US" altLang="ko-KR"/>
                        <a:t>. 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웹 검색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코드 실행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계산 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349874"/>
                  </a:ext>
                </a:extLst>
              </a:tr>
              <a:tr h="536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Memory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대화 기록 저장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LLM</a:t>
                      </a:r>
                      <a:r>
                        <a:rPr lang="ko-KR" altLang="en-US" dirty="0"/>
                        <a:t>이 이전 대화 내용을 기억하여 문맥을 유지할 수 있도록 합니다</a:t>
                      </a:r>
                      <a:r>
                        <a:rPr lang="en-US" altLang="ko-KR" dirty="0"/>
                        <a:t>. (</a:t>
                      </a:r>
                      <a:r>
                        <a:rPr lang="ko-KR" altLang="en-US" dirty="0" err="1"/>
                        <a:t>챗봇</a:t>
                      </a:r>
                      <a:r>
                        <a:rPr lang="ko-KR" altLang="en-US" dirty="0"/>
                        <a:t> 개발의 핵심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5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4916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EE2DF-BB71-78DD-8794-926F8F8D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랭체인을</a:t>
            </a:r>
            <a:r>
              <a:rPr lang="ko-KR" altLang="en-US" dirty="0"/>
              <a:t> 활용한 </a:t>
            </a:r>
            <a:r>
              <a:rPr lang="en-US" altLang="ko-KR" dirty="0"/>
              <a:t>RAG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27648-AE16-41EB-0325-F2B3FE63A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err="1"/>
              <a:t>랭체인은</a:t>
            </a:r>
            <a:r>
              <a:rPr lang="ko-KR" altLang="en-US" dirty="0"/>
              <a:t> </a:t>
            </a:r>
            <a:r>
              <a:rPr lang="en-US" altLang="ko-KR" dirty="0"/>
              <a:t>RAG(</a:t>
            </a:r>
            <a:r>
              <a:rPr lang="ko-KR" altLang="en-US" dirty="0"/>
              <a:t>검색 증강 생성</a:t>
            </a:r>
            <a:r>
              <a:rPr lang="en-US" altLang="ko-KR" dirty="0"/>
              <a:t>)</a:t>
            </a:r>
            <a:r>
              <a:rPr lang="ko-KR" altLang="en-US" dirty="0"/>
              <a:t>를 구현하는 가장 대표적인 프레임워크입니다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랭체인을</a:t>
            </a:r>
            <a:r>
              <a:rPr lang="ko-KR" altLang="en-US" dirty="0"/>
              <a:t> 사용하면 다음과 같은 </a:t>
            </a:r>
            <a:r>
              <a:rPr lang="en-US" altLang="ko-KR" dirty="0"/>
              <a:t>RAG </a:t>
            </a:r>
            <a:r>
              <a:rPr lang="ko-KR" altLang="en-US" dirty="0"/>
              <a:t>파이프라인을 효율적으로 구축할 수 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Loader:</a:t>
            </a:r>
            <a:r>
              <a:rPr lang="ko-KR" altLang="en-US" dirty="0"/>
              <a:t> </a:t>
            </a:r>
            <a:r>
              <a:rPr lang="en-US" altLang="ko-KR" dirty="0"/>
              <a:t>PDF, </a:t>
            </a:r>
            <a:r>
              <a:rPr lang="ko-KR" altLang="en-US" dirty="0"/>
              <a:t>텍스트 파일 등 기업 내부 문서를 불러옵니다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Splitter:</a:t>
            </a:r>
            <a:r>
              <a:rPr lang="ko-KR" altLang="en-US" dirty="0"/>
              <a:t> 긴 문서를 의미 있는 작은 조각</a:t>
            </a:r>
            <a:r>
              <a:rPr lang="en-US" altLang="ko-KR" dirty="0"/>
              <a:t>(Chunk)</a:t>
            </a:r>
            <a:r>
              <a:rPr lang="ko-KR" altLang="en-US" dirty="0"/>
              <a:t>들로 나눕니다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Embedding:</a:t>
            </a:r>
            <a:r>
              <a:rPr lang="ko-KR" altLang="en-US" dirty="0"/>
              <a:t> 이 조각들을 컴퓨터가 이해할 수 있는 **벡터</a:t>
            </a:r>
            <a:r>
              <a:rPr lang="en-US" altLang="ko-KR" dirty="0"/>
              <a:t>(</a:t>
            </a:r>
            <a:r>
              <a:rPr lang="ko-KR" altLang="en-US" dirty="0"/>
              <a:t>숫자 배열</a:t>
            </a:r>
            <a:r>
              <a:rPr lang="en-US" altLang="ko-KR" dirty="0"/>
              <a:t>)**</a:t>
            </a:r>
            <a:r>
              <a:rPr lang="ko-KR" altLang="en-US" dirty="0"/>
              <a:t>로 변환합니다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Vector Store:</a:t>
            </a:r>
            <a:r>
              <a:rPr lang="ko-KR" altLang="en-US" dirty="0"/>
              <a:t> 이 벡터들을 벡터 데이터베이스에 저장합니다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Retriever:</a:t>
            </a:r>
            <a:r>
              <a:rPr lang="ko-KR" altLang="en-US" dirty="0"/>
              <a:t> 사용자의 질문 벡터와 가장 유사한</a:t>
            </a:r>
            <a:r>
              <a:rPr lang="en-US" altLang="ko-KR" dirty="0"/>
              <a:t>(</a:t>
            </a:r>
            <a:r>
              <a:rPr lang="ko-KR" altLang="en-US" dirty="0"/>
              <a:t>관련성 높은</a:t>
            </a:r>
            <a:r>
              <a:rPr lang="en-US" altLang="ko-KR" dirty="0"/>
              <a:t>) </a:t>
            </a:r>
            <a:r>
              <a:rPr lang="ko-KR" altLang="en-US" dirty="0"/>
              <a:t>문서를 벡터 데이터베이스에서 검색하여 </a:t>
            </a:r>
            <a:r>
              <a:rPr lang="en-US" altLang="ko-KR" dirty="0"/>
              <a:t>LLM</a:t>
            </a:r>
            <a:r>
              <a:rPr lang="ko-KR" altLang="en-US" dirty="0"/>
              <a:t>에 전달합니다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랭체인은</a:t>
            </a:r>
            <a:r>
              <a:rPr lang="ko-KR" altLang="en-US" dirty="0"/>
              <a:t> </a:t>
            </a:r>
            <a:r>
              <a:rPr lang="en-US" altLang="ko-KR" dirty="0"/>
              <a:t>RAG</a:t>
            </a:r>
            <a:r>
              <a:rPr lang="ko-KR" altLang="en-US" dirty="0"/>
              <a:t>를 포함하여 더 유용하고 똑똑한 </a:t>
            </a:r>
            <a:r>
              <a:rPr lang="en-US" altLang="ko-KR" dirty="0"/>
              <a:t>AI </a:t>
            </a:r>
            <a:r>
              <a:rPr lang="ko-KR" altLang="en-US" dirty="0"/>
              <a:t>서비스를 </a:t>
            </a:r>
            <a:r>
              <a:rPr lang="ko-KR" altLang="en-US" dirty="0" err="1"/>
              <a:t>현실화시키는</a:t>
            </a:r>
            <a:r>
              <a:rPr lang="ko-KR" altLang="en-US" dirty="0"/>
              <a:t> 데 사용되는 도구이자 프레임워크입니다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825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52F26-65C4-4FEB-7E40-E663257C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허깅페이스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7128BA-B6B3-1991-CA74-4A208BA9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</a:t>
            </a:r>
            <a:r>
              <a:rPr lang="en-US" altLang="ko-KR" dirty="0"/>
              <a:t>(Hugging Face)</a:t>
            </a:r>
            <a:r>
              <a:rPr lang="ko-KR" altLang="en-US" dirty="0"/>
              <a:t>는 인공지능</a:t>
            </a:r>
            <a:r>
              <a:rPr lang="en-US" altLang="ko-KR" dirty="0"/>
              <a:t>, </a:t>
            </a:r>
            <a:r>
              <a:rPr lang="ko-KR" altLang="en-US" dirty="0"/>
              <a:t>특히 자연어 처리</a:t>
            </a:r>
            <a:r>
              <a:rPr lang="en-US" altLang="ko-KR" dirty="0"/>
              <a:t>(NLP)</a:t>
            </a:r>
            <a:r>
              <a:rPr lang="ko-KR" altLang="en-US" dirty="0"/>
              <a:t>와 생성형 </a:t>
            </a:r>
            <a:r>
              <a:rPr lang="en-US" altLang="ko-KR" dirty="0"/>
              <a:t>AI</a:t>
            </a:r>
            <a:r>
              <a:rPr lang="ko-KR" altLang="en-US" dirty="0"/>
              <a:t> 분야에서 전 세계적으로 가장 크고 중요한 오픈 소스 플랫폼이자 커뮤니티입니다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LLM(</a:t>
            </a:r>
            <a:r>
              <a:rPr lang="ko-KR" altLang="en-US" dirty="0"/>
              <a:t>거대 언어 모델</a:t>
            </a:r>
            <a:r>
              <a:rPr lang="en-US" altLang="ko-KR" dirty="0"/>
              <a:t>)</a:t>
            </a:r>
            <a:r>
              <a:rPr lang="ko-KR" altLang="en-US" dirty="0"/>
              <a:t>을 포함한 최신 </a:t>
            </a:r>
            <a:r>
              <a:rPr lang="en-US" altLang="ko-KR" dirty="0"/>
              <a:t>AI </a:t>
            </a:r>
            <a:r>
              <a:rPr lang="ko-KR" altLang="en-US" dirty="0"/>
              <a:t>모델과 데이터셋을 공유하고 협업하는 중앙 허브 역할을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0291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4C488-2D3E-FC97-4E69-49D9C0E4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페이스의 핵심 구성 요소 </a:t>
            </a:r>
            <a:r>
              <a:rPr lang="en-US" altLang="ko-KR" dirty="0"/>
              <a:t>(3</a:t>
            </a:r>
            <a:r>
              <a:rPr lang="ko-KR" altLang="en-US" dirty="0"/>
              <a:t>가지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F2E28E-3245-8DAB-8272-366CE4FAE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Models (</a:t>
            </a:r>
            <a:r>
              <a:rPr lang="ko-KR" altLang="en-US" dirty="0"/>
              <a:t>모델 허브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가장 중요한 역할입니다</a:t>
            </a:r>
            <a:r>
              <a:rPr lang="en-US" altLang="ko-KR" dirty="0"/>
              <a:t>. </a:t>
            </a:r>
            <a:r>
              <a:rPr lang="ko-KR" altLang="en-US" dirty="0"/>
              <a:t>수십만 개의 사전 학습된 </a:t>
            </a:r>
            <a:r>
              <a:rPr lang="en-US" altLang="ko-KR" dirty="0"/>
              <a:t>AI </a:t>
            </a:r>
            <a:r>
              <a:rPr lang="ko-KR" altLang="en-US" dirty="0"/>
              <a:t>모델들이 저장되어 있으며</a:t>
            </a:r>
            <a:r>
              <a:rPr lang="en-US" altLang="ko-KR" dirty="0"/>
              <a:t>, </a:t>
            </a:r>
            <a:r>
              <a:rPr lang="ko-KR" altLang="en-US" dirty="0"/>
              <a:t>누구나 쉽게 검색하고 다운로드하여 사용할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대표 모델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Meta</a:t>
            </a:r>
            <a:r>
              <a:rPr lang="ko-KR" altLang="en-US" dirty="0"/>
              <a:t>의 </a:t>
            </a:r>
            <a:r>
              <a:rPr lang="en-US" altLang="ko-KR" dirty="0"/>
              <a:t>Llama, Mistral AI</a:t>
            </a:r>
            <a:r>
              <a:rPr lang="ko-KR" altLang="en-US" dirty="0"/>
              <a:t>의 </a:t>
            </a:r>
            <a:r>
              <a:rPr lang="en-US" altLang="ko-KR" dirty="0" err="1"/>
              <a:t>Mixtral</a:t>
            </a:r>
            <a:r>
              <a:rPr lang="en-US" altLang="ko-KR" dirty="0"/>
              <a:t>, Google</a:t>
            </a:r>
            <a:r>
              <a:rPr lang="ko-KR" altLang="en-US" dirty="0"/>
              <a:t>의 </a:t>
            </a:r>
            <a:r>
              <a:rPr lang="en-US" altLang="ko-KR" dirty="0"/>
              <a:t>BERT </a:t>
            </a:r>
            <a:r>
              <a:rPr lang="ko-KR" altLang="en-US" dirty="0"/>
              <a:t>등 전 세계의 주요 </a:t>
            </a:r>
            <a:r>
              <a:rPr lang="en-US" altLang="ko-KR" dirty="0"/>
              <a:t>LLM </a:t>
            </a:r>
            <a:r>
              <a:rPr lang="ko-KR" altLang="en-US" dirty="0"/>
              <a:t>및 딥러닝 모델이 이곳을 통해 공유됩니다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특징</a:t>
            </a:r>
            <a:r>
              <a:rPr lang="en-US" altLang="ko-KR" dirty="0"/>
              <a:t>:</a:t>
            </a:r>
            <a:r>
              <a:rPr lang="ko-KR" altLang="en-US" dirty="0"/>
              <a:t> 모델의 성능 벤치마크 점수</a:t>
            </a:r>
            <a:r>
              <a:rPr lang="en-US" altLang="ko-KR" dirty="0"/>
              <a:t>, </a:t>
            </a:r>
            <a:r>
              <a:rPr lang="ko-KR" altLang="en-US" dirty="0"/>
              <a:t>라이선스</a:t>
            </a:r>
            <a:r>
              <a:rPr lang="en-US" altLang="ko-KR" dirty="0"/>
              <a:t>, </a:t>
            </a:r>
            <a:r>
              <a:rPr lang="ko-KR" altLang="en-US" dirty="0"/>
              <a:t>사용 방법 등이 상세히 기록되어 있어 접근성이 높습니다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5260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B196-22C2-C2AF-48E8-9A325FF5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5C0E1-2CAC-F621-E26C-B4A2A23D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페이스의 핵심 구성 요소 </a:t>
            </a:r>
            <a:r>
              <a:rPr lang="en-US" altLang="ko-KR" dirty="0"/>
              <a:t>(3</a:t>
            </a:r>
            <a:r>
              <a:rPr lang="ko-KR" altLang="en-US" dirty="0"/>
              <a:t>가지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6A14C-4B3B-0A17-A563-535F8FDD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Datasets (</a:t>
            </a:r>
            <a:r>
              <a:rPr lang="ko-KR" altLang="en-US" dirty="0"/>
              <a:t>데이터셋 허브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AI </a:t>
            </a:r>
            <a:r>
              <a:rPr lang="ko-KR" altLang="en-US" dirty="0"/>
              <a:t>모델 학습에 사용되는 방대한 양의 공개 데이터셋이 </a:t>
            </a:r>
            <a:r>
              <a:rPr lang="ko-KR" altLang="en-US" dirty="0" err="1"/>
              <a:t>모여있는</a:t>
            </a:r>
            <a:r>
              <a:rPr lang="ko-KR" altLang="en-US" dirty="0"/>
              <a:t> 저장소입니다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역할</a:t>
            </a:r>
            <a:r>
              <a:rPr lang="en-US" altLang="ko-KR" dirty="0"/>
              <a:t>:</a:t>
            </a:r>
            <a:r>
              <a:rPr lang="ko-KR" altLang="en-US" dirty="0"/>
              <a:t> 개발자들이 자신의 모델을 훈련시키거나 기존 모델을 미세 조정</a:t>
            </a:r>
            <a:r>
              <a:rPr lang="en-US" altLang="ko-KR" dirty="0"/>
              <a:t>(Fine-tuning)</a:t>
            </a:r>
            <a:r>
              <a:rPr lang="ko-KR" altLang="en-US" dirty="0"/>
              <a:t>할 때 필요한 데이터를 쉽게 찾고 다운로드할 수 있도록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605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C761-1E88-5FF6-AB08-9B07CD9E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0B29E-75F6-1C37-4F62-FBB582A3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페이스의 핵심 구성 요소 </a:t>
            </a:r>
            <a:r>
              <a:rPr lang="en-US" altLang="ko-KR" dirty="0"/>
              <a:t>(3</a:t>
            </a:r>
            <a:r>
              <a:rPr lang="ko-KR" altLang="en-US" dirty="0"/>
              <a:t>가지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C8750-567D-9613-A06A-6D412742A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Spaces (</a:t>
            </a:r>
            <a:r>
              <a:rPr lang="ko-KR" altLang="en-US" dirty="0"/>
              <a:t>데모 앱 및 환경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사용자들이 자신들이 개발한 </a:t>
            </a:r>
            <a:r>
              <a:rPr lang="en-US" altLang="ko-KR" dirty="0"/>
              <a:t>AI </a:t>
            </a:r>
            <a:r>
              <a:rPr lang="ko-KR" altLang="en-US" dirty="0"/>
              <a:t>모델을 웹 애플리케이션 형태로 만들어 데모 시연을 할 수 있는 공간입니다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기술</a:t>
            </a:r>
            <a:r>
              <a:rPr lang="en-US" altLang="ko-KR" dirty="0"/>
              <a:t>:</a:t>
            </a:r>
            <a:r>
              <a:rPr lang="ko-KR" altLang="en-US" dirty="0"/>
              <a:t> 주로 </a:t>
            </a:r>
            <a:r>
              <a:rPr lang="en-US" altLang="ko-KR" dirty="0" err="1"/>
              <a:t>Gradio</a:t>
            </a:r>
            <a:r>
              <a:rPr lang="ko-KR" altLang="en-US" dirty="0"/>
              <a:t>나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같은 라이브러리를 사용하여 코딩 지식이 없는 사람도 모델의 작동을 시각적으로 쉽게 경험해볼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9822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BFB2E-7346-25E3-D189-7C66491C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60FF55-C029-46CD-FBF4-6983A84E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err="1"/>
              <a:t>허깅</a:t>
            </a:r>
            <a:r>
              <a:rPr lang="ko-KR" altLang="en-US" dirty="0"/>
              <a:t> 페이스는 </a:t>
            </a:r>
            <a:r>
              <a:rPr lang="en-US" altLang="ko-KR" dirty="0"/>
              <a:t>AI </a:t>
            </a:r>
            <a:r>
              <a:rPr lang="ko-KR" altLang="en-US" dirty="0"/>
              <a:t>연구의 방향과 속도를 가속화하는 데 크게 기여했습니다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민주화 </a:t>
            </a:r>
            <a:r>
              <a:rPr lang="en-US" altLang="ko-KR" dirty="0"/>
              <a:t>(Democratization of AI):</a:t>
            </a:r>
            <a:r>
              <a:rPr lang="ko-KR" altLang="en-US" dirty="0"/>
              <a:t> 고성능 </a:t>
            </a:r>
            <a:r>
              <a:rPr lang="en-US" altLang="ko-KR" dirty="0"/>
              <a:t>AI </a:t>
            </a:r>
            <a:r>
              <a:rPr lang="ko-KR" altLang="en-US" dirty="0"/>
              <a:t>모델에 대한 접근성을 높여</a:t>
            </a:r>
            <a:r>
              <a:rPr lang="en-US" altLang="ko-KR" dirty="0"/>
              <a:t>, </a:t>
            </a:r>
            <a:r>
              <a:rPr lang="ko-KR" altLang="en-US" dirty="0"/>
              <a:t>대규모 자본을 가진 </a:t>
            </a:r>
            <a:r>
              <a:rPr lang="ko-KR" altLang="en-US" dirty="0" err="1"/>
              <a:t>기업뿐만</a:t>
            </a:r>
            <a:r>
              <a:rPr lang="ko-KR" altLang="en-US" dirty="0"/>
              <a:t> 아니라 개인 개발자나 소규모 팀도 최신 </a:t>
            </a:r>
            <a:r>
              <a:rPr lang="en-US" altLang="ko-KR" dirty="0"/>
              <a:t>AI </a:t>
            </a:r>
            <a:r>
              <a:rPr lang="ko-KR" altLang="en-US" dirty="0"/>
              <a:t>기술을 활용할 수 있게 만들었습니다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오픈 소스 생태계 활성화</a:t>
            </a:r>
            <a:r>
              <a:rPr lang="en-US" altLang="ko-KR" dirty="0"/>
              <a:t>:</a:t>
            </a:r>
            <a:r>
              <a:rPr lang="ko-KR" altLang="en-US" dirty="0"/>
              <a:t> 모델과 데이터셋을 투명하게 공유함으로써 전 세계적인 </a:t>
            </a:r>
            <a:r>
              <a:rPr lang="en-US" altLang="ko-KR" dirty="0"/>
              <a:t>AI </a:t>
            </a:r>
            <a:r>
              <a:rPr lang="ko-KR" altLang="en-US" dirty="0"/>
              <a:t>연구 협력과 발전을 촉진합니다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Transformer </a:t>
            </a:r>
            <a:r>
              <a:rPr lang="ko-KR" altLang="en-US" dirty="0"/>
              <a:t>라이브러리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허깅</a:t>
            </a:r>
            <a:r>
              <a:rPr lang="ko-KR" altLang="en-US" dirty="0"/>
              <a:t> 페이스는 특히 **</a:t>
            </a:r>
            <a:r>
              <a:rPr lang="en-US" altLang="ko-KR" dirty="0"/>
              <a:t>transformers</a:t>
            </a:r>
            <a:r>
              <a:rPr lang="ko-KR" altLang="en-US" dirty="0"/>
              <a:t>**라는 파이썬 라이브러리로 유명합니다</a:t>
            </a:r>
            <a:r>
              <a:rPr lang="en-US" altLang="ko-KR" dirty="0"/>
              <a:t>. </a:t>
            </a:r>
            <a:r>
              <a:rPr lang="ko-KR" altLang="en-US" dirty="0"/>
              <a:t>이 라이브러리를 통해 개발자들은 복잡한 딥러닝 코드를 작성할 필요 없이 단 몇 줄의 코드로 다양한 </a:t>
            </a:r>
            <a:r>
              <a:rPr lang="en-US" altLang="ko-KR" dirty="0"/>
              <a:t>LLM</a:t>
            </a:r>
            <a:r>
              <a:rPr lang="ko-KR" altLang="en-US" dirty="0"/>
              <a:t>을 불러와 사용할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허깅</a:t>
            </a:r>
            <a:r>
              <a:rPr lang="ko-KR" altLang="en-US" dirty="0"/>
              <a:t> 페이스는 </a:t>
            </a:r>
            <a:r>
              <a:rPr lang="en-US" altLang="ko-KR" dirty="0">
                <a:solidFill>
                  <a:srgbClr val="C00000"/>
                </a:solidFill>
              </a:rPr>
              <a:t>AI </a:t>
            </a:r>
            <a:r>
              <a:rPr lang="ko-KR" altLang="en-US" dirty="0">
                <a:solidFill>
                  <a:srgbClr val="C00000"/>
                </a:solidFill>
              </a:rPr>
              <a:t>모델과 데이터셋의 </a:t>
            </a:r>
            <a:r>
              <a:rPr lang="en-US" altLang="ko-KR" dirty="0">
                <a:solidFill>
                  <a:srgbClr val="C00000"/>
                </a:solidFill>
              </a:rPr>
              <a:t>'GitHub'</a:t>
            </a:r>
            <a:r>
              <a:rPr lang="ko-KR" altLang="en-US" dirty="0"/>
              <a:t>라고 생각할 수 있으며</a:t>
            </a:r>
            <a:r>
              <a:rPr lang="en-US" altLang="ko-KR" dirty="0"/>
              <a:t>, </a:t>
            </a:r>
            <a:r>
              <a:rPr lang="ko-KR" altLang="en-US" dirty="0"/>
              <a:t>현대 </a:t>
            </a:r>
            <a:r>
              <a:rPr lang="en-US" altLang="ko-KR" dirty="0"/>
              <a:t>LLM </a:t>
            </a:r>
            <a:r>
              <a:rPr lang="ko-KR" altLang="en-US" dirty="0"/>
              <a:t>개발의 표준 플랫폼 역할을 하고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5979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C9BD5-89F9-8850-D62A-F2C70DB7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AI/LLM </a:t>
            </a:r>
            <a:r>
              <a:rPr lang="ko-KR" altLang="en-US" dirty="0"/>
              <a:t>생태계의 주요 추가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69493-A8FA-A7BC-E90B-2B6BF1B7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 err="1"/>
              <a:t>MoE</a:t>
            </a:r>
            <a:r>
              <a:rPr lang="en-US" altLang="ko-KR" dirty="0"/>
              <a:t> (Mixture of Experts, </a:t>
            </a:r>
            <a:r>
              <a:rPr lang="ko-KR" altLang="en-US" dirty="0"/>
              <a:t>전문가 혼합 모델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MoE</a:t>
            </a:r>
            <a:r>
              <a:rPr lang="ko-KR" altLang="en-US" dirty="0"/>
              <a:t>는 </a:t>
            </a:r>
            <a:r>
              <a:rPr lang="en-US" altLang="ko-KR" dirty="0"/>
              <a:t>LLM</a:t>
            </a:r>
            <a:r>
              <a:rPr lang="ko-KR" altLang="en-US" dirty="0"/>
              <a:t>의 효율성과 성능을 동시에 높이기 위해 사용되는 혁신적인 신경망 아키텍처입니다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원리</a:t>
            </a:r>
            <a:r>
              <a:rPr lang="en-US" altLang="ko-KR" dirty="0"/>
              <a:t>:</a:t>
            </a:r>
            <a:r>
              <a:rPr lang="ko-KR" altLang="en-US" dirty="0"/>
              <a:t> 모델 전체를 거대한 하나의 네트워크로 구성하는 대신</a:t>
            </a:r>
            <a:r>
              <a:rPr lang="en-US" altLang="ko-KR" dirty="0"/>
              <a:t>, </a:t>
            </a:r>
            <a:r>
              <a:rPr lang="ko-KR" altLang="en-US" dirty="0"/>
              <a:t>여러 개의 작은 </a:t>
            </a:r>
            <a:r>
              <a:rPr lang="en-US" altLang="ko-KR" dirty="0"/>
              <a:t>'</a:t>
            </a:r>
            <a:r>
              <a:rPr lang="ko-KR" altLang="en-US" dirty="0"/>
              <a:t>전문가</a:t>
            </a:r>
            <a:r>
              <a:rPr lang="en-US" altLang="ko-KR" dirty="0"/>
              <a:t>(Expert)' </a:t>
            </a:r>
            <a:r>
              <a:rPr lang="ko-KR" altLang="en-US" dirty="0"/>
              <a:t>네트워크로 구성합니다</a:t>
            </a:r>
            <a:r>
              <a:rPr lang="en-US" altLang="ko-KR" dirty="0"/>
              <a:t>. </a:t>
            </a:r>
            <a:r>
              <a:rPr lang="ko-KR" altLang="en-US" dirty="0"/>
              <a:t>입력된 데이터</a:t>
            </a:r>
            <a:r>
              <a:rPr lang="en-US" altLang="ko-KR" dirty="0"/>
              <a:t>(</a:t>
            </a:r>
            <a:r>
              <a:rPr lang="ko-KR" altLang="en-US" dirty="0"/>
              <a:t>프롬프트</a:t>
            </a:r>
            <a:r>
              <a:rPr lang="en-US" altLang="ko-KR" dirty="0"/>
              <a:t>)</a:t>
            </a:r>
            <a:r>
              <a:rPr lang="ko-KR" altLang="en-US" dirty="0"/>
              <a:t>에 따라 게이트</a:t>
            </a:r>
            <a:r>
              <a:rPr lang="en-US" altLang="ko-KR" dirty="0"/>
              <a:t>(Gating) </a:t>
            </a:r>
            <a:r>
              <a:rPr lang="ko-KR" altLang="en-US" dirty="0"/>
              <a:t>네트워크가 작동하여</a:t>
            </a:r>
            <a:r>
              <a:rPr lang="en-US" altLang="ko-KR" dirty="0"/>
              <a:t>, </a:t>
            </a:r>
            <a:r>
              <a:rPr lang="ko-KR" altLang="en-US" dirty="0"/>
              <a:t>그 질문에 가장 적합한 소수의 전문가들만 활성화시켜 연산을 수행하게 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</a:t>
            </a:r>
            <a:r>
              <a:rPr lang="ko-KR" altLang="en-US" dirty="0"/>
              <a:t> 모델의 전체 파라미터</a:t>
            </a:r>
            <a:r>
              <a:rPr lang="en-US" altLang="ko-KR" dirty="0"/>
              <a:t>(</a:t>
            </a:r>
            <a:r>
              <a:rPr lang="ko-KR" altLang="en-US" dirty="0"/>
              <a:t>매개변수</a:t>
            </a:r>
            <a:r>
              <a:rPr lang="en-US" altLang="ko-KR" dirty="0"/>
              <a:t>) </a:t>
            </a:r>
            <a:r>
              <a:rPr lang="ko-KR" altLang="en-US" dirty="0"/>
              <a:t>수는 매우 크지만</a:t>
            </a:r>
            <a:r>
              <a:rPr lang="en-US" altLang="ko-KR" dirty="0"/>
              <a:t>, </a:t>
            </a:r>
            <a:r>
              <a:rPr lang="ko-KR" altLang="en-US" dirty="0"/>
              <a:t>실제 특정 연산에 사용되는 파라미터는 일부에 불과합니다</a:t>
            </a:r>
            <a:r>
              <a:rPr lang="en-US" altLang="ko-KR" dirty="0"/>
              <a:t>. </a:t>
            </a:r>
            <a:r>
              <a:rPr lang="ko-KR" altLang="en-US" dirty="0"/>
              <a:t>따라서 추론 속도는 빠르고 메모리 사용량은 줄어들면서도 모델의 잠재적인 성능은 유지됩니다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대표 사례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Mistral AI</a:t>
            </a:r>
            <a:r>
              <a:rPr lang="ko-KR" altLang="en-US" dirty="0"/>
              <a:t>의 </a:t>
            </a:r>
            <a:r>
              <a:rPr lang="en-US" altLang="ko-KR" dirty="0" err="1"/>
              <a:t>Mixtral</a:t>
            </a:r>
            <a:r>
              <a:rPr lang="ko-KR" altLang="en-US" dirty="0"/>
              <a:t> 모델이 이 </a:t>
            </a:r>
            <a:r>
              <a:rPr lang="en-US" altLang="ko-KR" dirty="0" err="1"/>
              <a:t>MoE</a:t>
            </a:r>
            <a:r>
              <a:rPr lang="en-US" altLang="ko-KR" dirty="0"/>
              <a:t> </a:t>
            </a:r>
            <a:r>
              <a:rPr lang="ko-KR" altLang="en-US" dirty="0"/>
              <a:t>구조를 사용하여 뛰어난 성능과 효율을 보여주며 주목받았습니다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30967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46150-CA3E-74CF-A430-89E9025C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AI/LLM </a:t>
            </a:r>
            <a:r>
              <a:rPr lang="ko-KR" altLang="en-US" dirty="0"/>
              <a:t>생태계의 주요 추가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90EFCE-2CE3-0F0F-6B62-E76AE0BC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프롬프트 엔지니어링 </a:t>
            </a:r>
            <a:r>
              <a:rPr lang="en-US" altLang="ko-KR" dirty="0"/>
              <a:t>(Prompt Engineering)</a:t>
            </a:r>
          </a:p>
          <a:p>
            <a:pPr lvl="1"/>
            <a:r>
              <a:rPr lang="ko-KR" altLang="en-US" dirty="0"/>
              <a:t>프롬프트 엔지니어링은 </a:t>
            </a:r>
            <a:r>
              <a:rPr lang="en-US" altLang="ko-KR" dirty="0"/>
              <a:t>LLM</a:t>
            </a:r>
            <a:r>
              <a:rPr lang="ko-KR" altLang="en-US" dirty="0"/>
              <a:t>에게 가장 효과적이고 정확한 답변을 얻어내기 위해 질문</a:t>
            </a:r>
            <a:r>
              <a:rPr lang="en-US" altLang="ko-KR" dirty="0"/>
              <a:t>(</a:t>
            </a:r>
            <a:r>
              <a:rPr lang="ko-KR" altLang="en-US" dirty="0"/>
              <a:t>프롬프트</a:t>
            </a:r>
            <a:r>
              <a:rPr lang="en-US" altLang="ko-KR" dirty="0"/>
              <a:t>)</a:t>
            </a:r>
            <a:r>
              <a:rPr lang="ko-KR" altLang="en-US" dirty="0"/>
              <a:t>을 최적의 형태로 설계하고 개선하는 방법론입니다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핵심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의 성능을 결정하는 핵심 요소 중 하나가 되었으며</a:t>
            </a:r>
            <a:r>
              <a:rPr lang="en-US" altLang="ko-KR" dirty="0"/>
              <a:t>, </a:t>
            </a:r>
            <a:r>
              <a:rPr lang="ko-KR" altLang="en-US" dirty="0"/>
              <a:t>모델의 능력을 </a:t>
            </a:r>
            <a:r>
              <a:rPr lang="en-US" altLang="ko-KR" dirty="0"/>
              <a:t>100% </a:t>
            </a:r>
            <a:r>
              <a:rPr lang="ko-KR" altLang="en-US" dirty="0"/>
              <a:t>활용하기 위한 사용자</a:t>
            </a:r>
            <a:r>
              <a:rPr lang="en-US" altLang="ko-KR" dirty="0"/>
              <a:t>/</a:t>
            </a:r>
            <a:r>
              <a:rPr lang="ko-KR" altLang="en-US" dirty="0"/>
              <a:t>개발자의 필수 기술입니다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주요 기법</a:t>
            </a:r>
            <a:r>
              <a:rPr lang="en-US" altLang="ko-KR" dirty="0"/>
              <a:t>:</a:t>
            </a:r>
            <a:endParaRPr lang="ko-KR" altLang="en-US" dirty="0"/>
          </a:p>
          <a:p>
            <a:pPr lvl="2"/>
            <a:r>
              <a:rPr lang="en-US" altLang="ko-KR" dirty="0"/>
              <a:t>Few-Shot Prompting:</a:t>
            </a:r>
            <a:r>
              <a:rPr lang="ko-KR" altLang="en-US" dirty="0"/>
              <a:t> 답변 예시를 몇 개 제공하여 모델이 원하는 형태의 응답을 하도록 유도합니다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Chain-of-Thought (</a:t>
            </a:r>
            <a:r>
              <a:rPr lang="en-US" altLang="ko-KR" dirty="0" err="1"/>
              <a:t>CoT</a:t>
            </a:r>
            <a:r>
              <a:rPr lang="en-US" altLang="ko-KR" dirty="0"/>
              <a:t>):</a:t>
            </a:r>
            <a:r>
              <a:rPr lang="ko-KR" altLang="en-US" dirty="0"/>
              <a:t> 모델에게 최종 결론을 내기 전에 </a:t>
            </a:r>
            <a:r>
              <a:rPr lang="en-US" altLang="ko-KR" dirty="0"/>
              <a:t>'</a:t>
            </a:r>
            <a:r>
              <a:rPr lang="ko-KR" altLang="en-US" dirty="0"/>
              <a:t>생각하는 과정</a:t>
            </a:r>
            <a:r>
              <a:rPr lang="en-US" altLang="ko-KR" dirty="0"/>
              <a:t>(</a:t>
            </a:r>
            <a:r>
              <a:rPr lang="ko-KR" altLang="en-US" dirty="0"/>
              <a:t>추론 단계</a:t>
            </a:r>
            <a:r>
              <a:rPr lang="en-US" altLang="ko-KR" dirty="0"/>
              <a:t>)'</a:t>
            </a:r>
            <a:r>
              <a:rPr lang="ko-KR" altLang="en-US" dirty="0"/>
              <a:t>을 순차적으로 보여주도록 요구하여 복잡한 문제 해결 능력을 향상시킵니다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Role-Playing:</a:t>
            </a:r>
            <a:r>
              <a:rPr lang="ko-KR" altLang="en-US" dirty="0"/>
              <a:t> 모델에게 특정 역할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전문 변호사</a:t>
            </a:r>
            <a:r>
              <a:rPr lang="en-US" altLang="ko-KR" dirty="0"/>
              <a:t>, </a:t>
            </a:r>
            <a:r>
              <a:rPr lang="ko-KR" altLang="en-US" dirty="0"/>
              <a:t>마케팅 책임자 등</a:t>
            </a:r>
            <a:r>
              <a:rPr lang="en-US" altLang="ko-KR" dirty="0"/>
              <a:t>)</a:t>
            </a:r>
            <a:r>
              <a:rPr lang="ko-KR" altLang="en-US" dirty="0"/>
              <a:t>을 부여하여 전문적인 맥락의 답변을 유도합니다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5291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EFD2A-0152-8F6F-BFF7-D6393654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AI/LLM </a:t>
            </a:r>
            <a:r>
              <a:rPr lang="ko-KR" altLang="en-US" dirty="0"/>
              <a:t>생태계의 주요 추가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3E605-AB32-A69A-DF34-91EB5E10E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AI (Multimodal AI)</a:t>
            </a:r>
          </a:p>
          <a:p>
            <a:pPr lvl="1"/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는 두 가지 이상의 다른 형태의 데이터</a:t>
            </a:r>
            <a:r>
              <a:rPr lang="en-US" altLang="ko-KR" dirty="0"/>
              <a:t>(</a:t>
            </a:r>
            <a:r>
              <a:rPr lang="ko-KR" altLang="en-US" dirty="0" err="1"/>
              <a:t>모달리티</a:t>
            </a:r>
            <a:r>
              <a:rPr lang="en-US" altLang="ko-KR" dirty="0"/>
              <a:t>)</a:t>
            </a:r>
            <a:r>
              <a:rPr lang="ko-KR" altLang="en-US" dirty="0"/>
              <a:t>를 동시에 이해하고 처리할 수 있는 </a:t>
            </a:r>
            <a:r>
              <a:rPr lang="en-US" altLang="ko-KR" dirty="0"/>
              <a:t>AI </a:t>
            </a:r>
            <a:r>
              <a:rPr lang="ko-KR" altLang="en-US" dirty="0"/>
              <a:t>모델입니다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모달리티</a:t>
            </a:r>
            <a:r>
              <a:rPr lang="ko-KR" altLang="en-US" dirty="0"/>
              <a:t> 예시</a:t>
            </a:r>
            <a:r>
              <a:rPr lang="en-US" altLang="ko-KR" dirty="0"/>
              <a:t>:</a:t>
            </a:r>
            <a:r>
              <a:rPr lang="ko-KR" altLang="en-US" dirty="0"/>
              <a:t> 텍스트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오디오</a:t>
            </a:r>
            <a:r>
              <a:rPr lang="en-US" altLang="ko-KR" dirty="0"/>
              <a:t>, </a:t>
            </a:r>
            <a:r>
              <a:rPr lang="ko-KR" altLang="en-US" dirty="0"/>
              <a:t>비디오</a:t>
            </a:r>
            <a:r>
              <a:rPr lang="en-US" altLang="ko-KR" dirty="0"/>
              <a:t>, 3D </a:t>
            </a:r>
            <a:r>
              <a:rPr lang="ko-KR" altLang="en-US" dirty="0"/>
              <a:t>데이터 등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LLM</a:t>
            </a:r>
            <a:r>
              <a:rPr lang="ko-KR" altLang="en-US" dirty="0"/>
              <a:t>과의 관계</a:t>
            </a:r>
            <a:r>
              <a:rPr lang="en-US" altLang="ko-KR" dirty="0"/>
              <a:t>:</a:t>
            </a:r>
            <a:r>
              <a:rPr lang="ko-KR" altLang="en-US" dirty="0"/>
              <a:t> 기존 </a:t>
            </a:r>
            <a:r>
              <a:rPr lang="en-US" altLang="ko-KR" dirty="0"/>
              <a:t>LLM</a:t>
            </a:r>
            <a:r>
              <a:rPr lang="ko-KR" altLang="en-US" dirty="0"/>
              <a:t>은 텍스트</a:t>
            </a:r>
            <a:r>
              <a:rPr lang="en-US" altLang="ko-KR" dirty="0"/>
              <a:t>(</a:t>
            </a:r>
            <a:r>
              <a:rPr lang="ko-KR" altLang="en-US" dirty="0"/>
              <a:t>언어</a:t>
            </a:r>
            <a:r>
              <a:rPr lang="en-US" altLang="ko-KR" dirty="0"/>
              <a:t>)</a:t>
            </a:r>
            <a:r>
              <a:rPr lang="ko-KR" altLang="en-US" dirty="0"/>
              <a:t>가 주력이었지만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LLM(</a:t>
            </a:r>
            <a:r>
              <a:rPr lang="ko-KR" altLang="en-US" dirty="0"/>
              <a:t>예</a:t>
            </a:r>
            <a:r>
              <a:rPr lang="en-US" altLang="ko-KR" dirty="0"/>
              <a:t>: Google Gemini, </a:t>
            </a:r>
            <a:r>
              <a:rPr lang="en-US" altLang="ko-KR" dirty="0" err="1"/>
              <a:t>GPT-4V</a:t>
            </a:r>
            <a:r>
              <a:rPr lang="en-US" altLang="ko-KR" dirty="0"/>
              <a:t>)</a:t>
            </a:r>
            <a:r>
              <a:rPr lang="ko-KR" altLang="en-US" dirty="0"/>
              <a:t>은 이미지나 오디오를 </a:t>
            </a:r>
            <a:r>
              <a:rPr lang="ko-KR" altLang="en-US" dirty="0" err="1"/>
              <a:t>입력받아</a:t>
            </a:r>
            <a:r>
              <a:rPr lang="ko-KR" altLang="en-US" dirty="0"/>
              <a:t> 이를 분석하고 텍스트로 설명하거나 질문에 답할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활용</a:t>
            </a:r>
            <a:r>
              <a:rPr lang="en-US" altLang="ko-KR" dirty="0"/>
              <a:t>:</a:t>
            </a:r>
            <a:r>
              <a:rPr lang="ko-KR" altLang="en-US" dirty="0"/>
              <a:t> 이미지 속의 내용을 분석하여 설명해 주거나</a:t>
            </a:r>
            <a:r>
              <a:rPr lang="en-US" altLang="ko-KR" dirty="0"/>
              <a:t>, </a:t>
            </a:r>
            <a:r>
              <a:rPr lang="ko-KR" altLang="en-US" dirty="0"/>
              <a:t>표나 그래프가 포함된 문서를 종합적으로 이해하는 등</a:t>
            </a:r>
            <a:r>
              <a:rPr lang="en-US" altLang="ko-KR" dirty="0"/>
              <a:t>, </a:t>
            </a:r>
            <a:r>
              <a:rPr lang="ko-KR" altLang="en-US" dirty="0"/>
              <a:t>현실 세계의 복잡한 정보를 처리하는 능력을 획기적으로 향상시킵니다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5997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6F922-3F90-5B70-9C00-D8321A4C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추론을 위한 최소 하드웨어 요구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801A3-9900-E2AC-5334-87E5724F3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최소 사양 </a:t>
            </a:r>
            <a:r>
              <a:rPr lang="en-US" altLang="ko-KR" dirty="0"/>
              <a:t>(</a:t>
            </a:r>
            <a:r>
              <a:rPr lang="ko-KR" altLang="en-US" dirty="0"/>
              <a:t>초소형 모델 및 테스트</a:t>
            </a:r>
            <a:r>
              <a:rPr lang="en-US" altLang="ko-KR" dirty="0"/>
              <a:t>) - </a:t>
            </a:r>
            <a:r>
              <a:rPr lang="ko-KR" altLang="en-US" dirty="0"/>
              <a:t>가장 작고 효율적인 초소형 </a:t>
            </a:r>
            <a:r>
              <a:rPr lang="en-US" altLang="ko-KR" dirty="0"/>
              <a:t>LLM (</a:t>
            </a:r>
            <a:r>
              <a:rPr lang="ko-KR" altLang="en-US" dirty="0"/>
              <a:t>약 </a:t>
            </a:r>
            <a:r>
              <a:rPr lang="en-US" altLang="ko-KR" dirty="0"/>
              <a:t>20</a:t>
            </a:r>
            <a:r>
              <a:rPr lang="ko-KR" altLang="en-US" dirty="0"/>
              <a:t>억 파라미터 이하</a:t>
            </a:r>
            <a:r>
              <a:rPr lang="en-US" altLang="ko-KR" dirty="0"/>
              <a:t>)</a:t>
            </a:r>
            <a:r>
              <a:rPr lang="ko-KR" altLang="en-US" dirty="0"/>
              <a:t>을 구동하는 데 필요한 최소 사양입니다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 err="1"/>
              <a:t>TinyLlama</a:t>
            </a:r>
            <a:r>
              <a:rPr lang="en-US" altLang="ko-KR" dirty="0"/>
              <a:t>, Phi-2 </a:t>
            </a:r>
            <a:r>
              <a:rPr lang="ko-KR" altLang="en-US" dirty="0"/>
              <a:t>등 초경량 모델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D435B12-173C-A3EB-D7EB-8AFEA07CD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896794"/>
              </p:ext>
            </p:extLst>
          </p:nvPr>
        </p:nvGraphicFramePr>
        <p:xfrm>
          <a:off x="1492785" y="2492615"/>
          <a:ext cx="9314763" cy="3277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220">
                  <a:extLst>
                    <a:ext uri="{9D8B030D-6E8A-4147-A177-3AD203B41FA5}">
                      <a16:colId xmlns:a16="http://schemas.microsoft.com/office/drawing/2014/main" val="10442927"/>
                    </a:ext>
                  </a:extLst>
                </a:gridCol>
                <a:gridCol w="3222433">
                  <a:extLst>
                    <a:ext uri="{9D8B030D-6E8A-4147-A177-3AD203B41FA5}">
                      <a16:colId xmlns:a16="http://schemas.microsoft.com/office/drawing/2014/main" val="264644021"/>
                    </a:ext>
                  </a:extLst>
                </a:gridCol>
                <a:gridCol w="3663110">
                  <a:extLst>
                    <a:ext uri="{9D8B030D-6E8A-4147-A177-3AD203B41FA5}">
                      <a16:colId xmlns:a16="http://schemas.microsoft.com/office/drawing/2014/main" val="2155818494"/>
                    </a:ext>
                  </a:extLst>
                </a:gridCol>
              </a:tblGrid>
              <a:tr h="35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하드웨어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최소 요구 사양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66936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GPU </a:t>
                      </a:r>
                      <a:r>
                        <a:rPr lang="ko-KR" altLang="en-US" b="1"/>
                        <a:t>메모리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VRAM)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4GB ~ 8GB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4-bit </a:t>
                      </a:r>
                      <a:r>
                        <a:rPr lang="ko-KR" altLang="en-US" b="1"/>
                        <a:t>양자화 모델</a:t>
                      </a:r>
                      <a:r>
                        <a:rPr lang="ko-KR" altLang="en-US"/>
                        <a:t> 기준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일부 노트북 </a:t>
                      </a:r>
                      <a:r>
                        <a:rPr lang="en-US" altLang="ko-KR"/>
                        <a:t>GPU</a:t>
                      </a:r>
                      <a:r>
                        <a:rPr lang="ko-KR" altLang="en-US"/>
                        <a:t>나 저사양 데스크톱 </a:t>
                      </a:r>
                      <a:r>
                        <a:rPr lang="en-US" altLang="ko-KR"/>
                        <a:t>GPU</a:t>
                      </a:r>
                      <a:r>
                        <a:rPr lang="ko-KR" altLang="en-US"/>
                        <a:t>로도 실행 가능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837864"/>
                  </a:ext>
                </a:extLst>
              </a:tr>
              <a:tr h="61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CPU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 </a:t>
                      </a:r>
                      <a:r>
                        <a:rPr lang="ko-KR" altLang="en-US"/>
                        <a:t>코어 이상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최신 세대 권장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일부 연산 및 데이터 로딩에 사용됨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15432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시스템 메모리 </a:t>
                      </a:r>
                      <a:r>
                        <a:rPr lang="en-US" altLang="ko-KR" b="1"/>
                        <a:t>(RAM)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16GB </a:t>
                      </a:r>
                      <a:r>
                        <a:rPr lang="ko-KR" altLang="en-US"/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VRAM</a:t>
                      </a:r>
                      <a:r>
                        <a:rPr lang="ko-KR" altLang="en-US" dirty="0"/>
                        <a:t>이 부족할 경우 </a:t>
                      </a:r>
                      <a:r>
                        <a:rPr lang="en-US" altLang="ko-KR" dirty="0"/>
                        <a:t>CPU </a:t>
                      </a:r>
                      <a:r>
                        <a:rPr lang="ko-KR" altLang="en-US" dirty="0"/>
                        <a:t>메모리를 분할</a:t>
                      </a:r>
                      <a:r>
                        <a:rPr lang="en-US" altLang="ko-KR" dirty="0"/>
                        <a:t>(Offloading)</a:t>
                      </a:r>
                      <a:r>
                        <a:rPr lang="ko-KR" altLang="en-US" dirty="0"/>
                        <a:t>하여 사용 가능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78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6683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2E93-9160-58E9-E5B0-DD33050C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5C114-D9DA-D8F6-E720-50F8EE47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추론을 위한 최소 하드웨어 요구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D6DFD-9060-F448-50E8-6EAACA5AA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권장 사양 </a:t>
            </a:r>
            <a:r>
              <a:rPr lang="en-US" altLang="ko-KR" dirty="0"/>
              <a:t>(</a:t>
            </a:r>
            <a:r>
              <a:rPr lang="ko-KR" altLang="en-US" dirty="0"/>
              <a:t>일반적인 중소형 </a:t>
            </a:r>
            <a:r>
              <a:rPr lang="en-US" altLang="ko-KR" dirty="0"/>
              <a:t>LLM) - </a:t>
            </a:r>
            <a:r>
              <a:rPr lang="ko-KR" altLang="en-US" dirty="0"/>
              <a:t>가장 널리 사용되는 중소형 모델</a:t>
            </a:r>
            <a:r>
              <a:rPr lang="en-US" altLang="ko-KR" dirty="0"/>
              <a:t>(Llama 3 </a:t>
            </a:r>
            <a:r>
              <a:rPr lang="en-US" altLang="ko-KR" dirty="0" err="1"/>
              <a:t>8B</a:t>
            </a:r>
            <a:r>
              <a:rPr lang="en-US" altLang="ko-KR" dirty="0"/>
              <a:t>, Mistral </a:t>
            </a:r>
            <a:r>
              <a:rPr lang="en-US" altLang="ko-KR" dirty="0" err="1"/>
              <a:t>7B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실질적인 속도로 구동하는 데 필요한 사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DA0E1B-8BC2-993C-A541-C8A6A92A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37982"/>
              </p:ext>
            </p:extLst>
          </p:nvPr>
        </p:nvGraphicFramePr>
        <p:xfrm>
          <a:off x="1547869" y="2382783"/>
          <a:ext cx="9314763" cy="3330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220">
                  <a:extLst>
                    <a:ext uri="{9D8B030D-6E8A-4147-A177-3AD203B41FA5}">
                      <a16:colId xmlns:a16="http://schemas.microsoft.com/office/drawing/2014/main" val="10442927"/>
                    </a:ext>
                  </a:extLst>
                </a:gridCol>
                <a:gridCol w="3222433">
                  <a:extLst>
                    <a:ext uri="{9D8B030D-6E8A-4147-A177-3AD203B41FA5}">
                      <a16:colId xmlns:a16="http://schemas.microsoft.com/office/drawing/2014/main" val="264644021"/>
                    </a:ext>
                  </a:extLst>
                </a:gridCol>
                <a:gridCol w="3663110">
                  <a:extLst>
                    <a:ext uri="{9D8B030D-6E8A-4147-A177-3AD203B41FA5}">
                      <a16:colId xmlns:a16="http://schemas.microsoft.com/office/drawing/2014/main" val="2155818494"/>
                    </a:ext>
                  </a:extLst>
                </a:gridCol>
              </a:tblGrid>
              <a:tr h="35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하드웨어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권장 요구 사양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66936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GPU </a:t>
                      </a:r>
                      <a:r>
                        <a:rPr lang="ko-KR" altLang="en-US" b="1" dirty="0"/>
                        <a:t>메모리 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b="1" dirty="0"/>
                        <a:t>VRAM)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12GB</a:t>
                      </a:r>
                      <a:r>
                        <a:rPr lang="en-US" b="1" dirty="0"/>
                        <a:t> ~ </a:t>
                      </a:r>
                      <a:r>
                        <a:rPr lang="en-US" b="1" dirty="0" err="1"/>
                        <a:t>16GB</a:t>
                      </a:r>
                      <a:r>
                        <a:rPr lang="en-US" b="1" dirty="0"/>
                        <a:t> </a:t>
                      </a:r>
                      <a:r>
                        <a:rPr lang="ko-KR" altLang="en-US" b="1" dirty="0"/>
                        <a:t>이상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 err="1"/>
                        <a:t>7B~10B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파라미터 모델 </a:t>
                      </a:r>
                      <a:r>
                        <a:rPr lang="en-US" altLang="ko-KR" dirty="0"/>
                        <a:t>(4-bit/8-bit </a:t>
                      </a:r>
                      <a:r>
                        <a:rPr lang="ko-KR" altLang="en-US" dirty="0"/>
                        <a:t>양자화 기준</a:t>
                      </a:r>
                      <a:r>
                        <a:rPr lang="en-US" altLang="ko-KR" dirty="0"/>
                        <a:t>). </a:t>
                      </a:r>
                      <a:r>
                        <a:rPr lang="ko-KR" altLang="en-US" dirty="0"/>
                        <a:t>일반 소비자용 고성능 </a:t>
                      </a:r>
                      <a:r>
                        <a:rPr lang="en-US" altLang="ko-KR" dirty="0"/>
                        <a:t>GPU 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RTX 4070, 3080/3090) </a:t>
                      </a:r>
                      <a:r>
                        <a:rPr lang="ko-KR" altLang="en-US" dirty="0"/>
                        <a:t>등이 해당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837864"/>
                  </a:ext>
                </a:extLst>
              </a:tr>
              <a:tr h="61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CPU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6 </a:t>
                      </a:r>
                      <a:r>
                        <a:rPr lang="ko-KR" altLang="en-US"/>
                        <a:t>코어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빠른 데이터 처리 및 추론 속도 유지에 중요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15432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시스템 메모리 </a:t>
                      </a:r>
                      <a:r>
                        <a:rPr lang="en-US" altLang="ko-KR" b="1"/>
                        <a:t>(RAM)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32GB </a:t>
                      </a:r>
                      <a:r>
                        <a:rPr lang="ko-KR" altLang="en-US"/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대규모 컨텍스트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대화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처리할 때 안정성을 확보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78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281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B84F-D044-D590-835E-07EF9D20E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059AA-1D4D-348E-DCA8-E9C8B99D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추론을 위한 최소 하드웨어 요구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B5C5B-8CE7-EB7D-2E1D-D6DFC744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최소 사양 </a:t>
            </a:r>
            <a:r>
              <a:rPr lang="en-US" altLang="ko-KR" dirty="0"/>
              <a:t>(</a:t>
            </a:r>
            <a:r>
              <a:rPr lang="ko-KR" altLang="en-US" dirty="0"/>
              <a:t>초소형 모델 및 테스트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가장 작고 효율적인 초소형 </a:t>
            </a:r>
            <a:r>
              <a:rPr lang="en-US" altLang="ko-KR" dirty="0"/>
              <a:t>LLM (</a:t>
            </a:r>
            <a:r>
              <a:rPr lang="ko-KR" altLang="en-US" dirty="0"/>
              <a:t>약 </a:t>
            </a:r>
            <a:r>
              <a:rPr lang="en-US" altLang="ko-KR" dirty="0"/>
              <a:t>20</a:t>
            </a:r>
            <a:r>
              <a:rPr lang="ko-KR" altLang="en-US" dirty="0"/>
              <a:t>억 파라미터 이하</a:t>
            </a:r>
            <a:r>
              <a:rPr lang="en-US" altLang="ko-KR" dirty="0"/>
              <a:t>)</a:t>
            </a:r>
            <a:r>
              <a:rPr lang="ko-KR" altLang="en-US" dirty="0"/>
              <a:t>을 구동하는 데 필요한 최소 사양입니다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5FAC5F-966A-D830-7DE9-BB2B7D80C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61265"/>
              </p:ext>
            </p:extLst>
          </p:nvPr>
        </p:nvGraphicFramePr>
        <p:xfrm>
          <a:off x="1591937" y="2680239"/>
          <a:ext cx="9314763" cy="3277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220">
                  <a:extLst>
                    <a:ext uri="{9D8B030D-6E8A-4147-A177-3AD203B41FA5}">
                      <a16:colId xmlns:a16="http://schemas.microsoft.com/office/drawing/2014/main" val="10442927"/>
                    </a:ext>
                  </a:extLst>
                </a:gridCol>
                <a:gridCol w="2506337">
                  <a:extLst>
                    <a:ext uri="{9D8B030D-6E8A-4147-A177-3AD203B41FA5}">
                      <a16:colId xmlns:a16="http://schemas.microsoft.com/office/drawing/2014/main" val="264644021"/>
                    </a:ext>
                  </a:extLst>
                </a:gridCol>
                <a:gridCol w="4379206">
                  <a:extLst>
                    <a:ext uri="{9D8B030D-6E8A-4147-A177-3AD203B41FA5}">
                      <a16:colId xmlns:a16="http://schemas.microsoft.com/office/drawing/2014/main" val="2155818494"/>
                    </a:ext>
                  </a:extLst>
                </a:gridCol>
              </a:tblGrid>
              <a:tr h="35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하드웨어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권장 요구 사양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466936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GPU </a:t>
                      </a:r>
                      <a:r>
                        <a:rPr lang="ko-KR" altLang="en-US" b="1" dirty="0"/>
                        <a:t>메모리 </a:t>
                      </a:r>
                      <a:r>
                        <a:rPr lang="en-US" altLang="ko-KR" b="1" dirty="0"/>
                        <a:t>(</a:t>
                      </a:r>
                      <a:r>
                        <a:rPr lang="en-US" b="1" dirty="0"/>
                        <a:t>VRAM)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12GB</a:t>
                      </a:r>
                      <a:r>
                        <a:rPr lang="en-US" b="1" dirty="0"/>
                        <a:t> ~ </a:t>
                      </a:r>
                      <a:r>
                        <a:rPr lang="en-US" b="1" dirty="0" err="1"/>
                        <a:t>16GB</a:t>
                      </a:r>
                      <a:r>
                        <a:rPr lang="en-US" b="1" dirty="0"/>
                        <a:t> </a:t>
                      </a:r>
                      <a:r>
                        <a:rPr lang="ko-KR" altLang="en-US" b="1" dirty="0"/>
                        <a:t>이상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 err="1"/>
                        <a:t>7B~10B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파라미터 모델 </a:t>
                      </a:r>
                      <a:r>
                        <a:rPr lang="en-US" altLang="ko-KR" dirty="0"/>
                        <a:t>(4-bit/8-bit </a:t>
                      </a:r>
                      <a:r>
                        <a:rPr lang="ko-KR" altLang="en-US" dirty="0"/>
                        <a:t>양자화 기준</a:t>
                      </a:r>
                      <a:r>
                        <a:rPr lang="en-US" altLang="ko-KR" dirty="0"/>
                        <a:t>). </a:t>
                      </a:r>
                      <a:r>
                        <a:rPr lang="ko-KR" altLang="en-US" dirty="0"/>
                        <a:t>일반 소비자용 고성능 </a:t>
                      </a:r>
                      <a:r>
                        <a:rPr lang="en-US" altLang="ko-KR" dirty="0"/>
                        <a:t>GPU 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RTX 4070, 3080/3090) </a:t>
                      </a:r>
                      <a:r>
                        <a:rPr lang="ko-KR" altLang="en-US" dirty="0"/>
                        <a:t>등이 해당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837864"/>
                  </a:ext>
                </a:extLst>
              </a:tr>
              <a:tr h="611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CPU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6 </a:t>
                      </a:r>
                      <a:r>
                        <a:rPr lang="ko-KR" altLang="en-US"/>
                        <a:t>코어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빠른 데이터 처리 및 추론 속도 유지에 중요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15432"/>
                  </a:ext>
                </a:extLst>
              </a:tr>
              <a:tr h="1135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시스템 메모리 </a:t>
                      </a:r>
                      <a:r>
                        <a:rPr lang="en-US" altLang="ko-KR" b="1"/>
                        <a:t>(RAM)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32GB </a:t>
                      </a:r>
                      <a:r>
                        <a:rPr lang="ko-KR" altLang="en-US"/>
                        <a:t>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대규모 컨텍스트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대화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를 처리할 때 안정성을 확보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78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3341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DF72C-484D-57C8-12F4-9FA44E60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 </a:t>
            </a:r>
            <a:r>
              <a:rPr lang="ko-KR" altLang="en-US" dirty="0"/>
              <a:t>하드웨어 선택 시 핵심 고려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D7A66D-AF8B-4992-9135-F6850AB5E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양자화 </a:t>
            </a:r>
            <a:r>
              <a:rPr lang="en-US" altLang="ko-KR" dirty="0"/>
              <a:t>(Quantization):</a:t>
            </a:r>
            <a:r>
              <a:rPr lang="ko-KR" altLang="en-US" dirty="0"/>
              <a:t> </a:t>
            </a:r>
            <a:r>
              <a:rPr lang="en-US" altLang="ko-KR" dirty="0"/>
              <a:t>LLM </a:t>
            </a:r>
            <a:r>
              <a:rPr lang="ko-KR" altLang="en-US" dirty="0"/>
              <a:t>메모리 요구량을 줄이는 가장 중요한 기술입니다</a:t>
            </a:r>
            <a:r>
              <a:rPr lang="en-US" altLang="ko-KR" dirty="0"/>
              <a:t>. 32</a:t>
            </a:r>
            <a:r>
              <a:rPr lang="ko-KR" altLang="en-US" dirty="0"/>
              <a:t>비트 정밀도를 </a:t>
            </a:r>
            <a:r>
              <a:rPr lang="en-US" altLang="ko-KR" dirty="0"/>
              <a:t>8</a:t>
            </a:r>
            <a:r>
              <a:rPr lang="ko-KR" altLang="en-US" dirty="0"/>
              <a:t>비트</a:t>
            </a:r>
            <a:r>
              <a:rPr lang="en-US" altLang="ko-KR" dirty="0"/>
              <a:t>(</a:t>
            </a:r>
            <a:r>
              <a:rPr lang="en-US" altLang="ko-KR" dirty="0" err="1"/>
              <a:t>INT8</a:t>
            </a:r>
            <a:r>
              <a:rPr lang="en-US" altLang="ko-KR" dirty="0"/>
              <a:t>)</a:t>
            </a:r>
            <a:r>
              <a:rPr lang="ko-KR" altLang="en-US" dirty="0"/>
              <a:t>나 </a:t>
            </a:r>
            <a:r>
              <a:rPr lang="en-US" altLang="ko-KR" dirty="0"/>
              <a:t>4</a:t>
            </a:r>
            <a:r>
              <a:rPr lang="ko-KR" altLang="en-US" dirty="0"/>
              <a:t>비트</a:t>
            </a:r>
            <a:r>
              <a:rPr lang="en-US" altLang="ko-KR" dirty="0"/>
              <a:t>(</a:t>
            </a:r>
            <a:r>
              <a:rPr lang="en-US" altLang="ko-KR" dirty="0" err="1"/>
              <a:t>INT4</a:t>
            </a:r>
            <a:r>
              <a:rPr lang="en-US" altLang="ko-KR" dirty="0"/>
              <a:t>)</a:t>
            </a:r>
            <a:r>
              <a:rPr lang="ko-KR" altLang="en-US" dirty="0"/>
              <a:t>로 줄여 </a:t>
            </a:r>
            <a:r>
              <a:rPr lang="en-US" altLang="ko-KR" dirty="0"/>
              <a:t>VRAM </a:t>
            </a:r>
            <a:r>
              <a:rPr lang="ko-KR" altLang="en-US" dirty="0"/>
              <a:t>요구량을 </a:t>
            </a:r>
            <a:r>
              <a:rPr lang="en-US" altLang="ko-KR" dirty="0"/>
              <a:t>1/4</a:t>
            </a:r>
            <a:r>
              <a:rPr lang="ko-KR" altLang="en-US" dirty="0"/>
              <a:t>까지 절감합니다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Llama.cpp</a:t>
            </a:r>
            <a:r>
              <a:rPr lang="ko-KR" altLang="en-US" dirty="0"/>
              <a:t>의 </a:t>
            </a:r>
            <a:r>
              <a:rPr lang="en-US" altLang="ko-KR" dirty="0" err="1"/>
              <a:t>GGUF</a:t>
            </a:r>
            <a:r>
              <a:rPr lang="en-US" altLang="ko-KR" dirty="0"/>
              <a:t> </a:t>
            </a:r>
            <a:r>
              <a:rPr lang="ko-KR" altLang="en-US" dirty="0"/>
              <a:t>포맷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VRAM vs. RAM:</a:t>
            </a:r>
            <a:r>
              <a:rPr lang="ko-KR" altLang="en-US" dirty="0"/>
              <a:t> </a:t>
            </a:r>
            <a:r>
              <a:rPr lang="en-US" altLang="ko-KR" dirty="0"/>
              <a:t>VRAM(GPU </a:t>
            </a:r>
            <a:r>
              <a:rPr lang="ko-KR" altLang="en-US" dirty="0"/>
              <a:t>메모리</a:t>
            </a:r>
            <a:r>
              <a:rPr lang="en-US" altLang="ko-KR" dirty="0"/>
              <a:t>)</a:t>
            </a:r>
            <a:r>
              <a:rPr lang="ko-KR" altLang="en-US" dirty="0"/>
              <a:t>이 압도적으로 중요합니다</a:t>
            </a:r>
            <a:r>
              <a:rPr lang="en-US" altLang="ko-KR" dirty="0"/>
              <a:t>. </a:t>
            </a:r>
            <a:r>
              <a:rPr lang="ko-KR" altLang="en-US" dirty="0"/>
              <a:t>일반 </a:t>
            </a:r>
            <a:r>
              <a:rPr lang="en-US" altLang="ko-KR" dirty="0"/>
              <a:t>RAM</a:t>
            </a:r>
            <a:r>
              <a:rPr lang="ko-KR" altLang="en-US" dirty="0"/>
              <a:t>은 속도가 느려 </a:t>
            </a:r>
            <a:r>
              <a:rPr lang="en-US" altLang="ko-KR" dirty="0"/>
              <a:t>VRAM</a:t>
            </a:r>
            <a:r>
              <a:rPr lang="ko-KR" altLang="en-US" dirty="0"/>
              <a:t>이 부족하면 </a:t>
            </a:r>
            <a:r>
              <a:rPr lang="en-US" altLang="ko-KR" dirty="0"/>
              <a:t>LLM </a:t>
            </a:r>
            <a:r>
              <a:rPr lang="ko-KR" altLang="en-US" dirty="0"/>
              <a:t>추론 속도가 매우 느려집니다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</a:t>
            </a:r>
            <a:r>
              <a:rPr lang="en-US" altLang="ko-KR" dirty="0"/>
              <a:t>(Training)</a:t>
            </a:r>
            <a:r>
              <a:rPr lang="ko-KR" altLang="en-US" dirty="0"/>
              <a:t>은 차원이 다름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을 직접 처음부터 학습시키려면</a:t>
            </a:r>
            <a:r>
              <a:rPr lang="en-US" altLang="ko-KR" dirty="0"/>
              <a:t>(Pre-training) </a:t>
            </a:r>
            <a:r>
              <a:rPr lang="ko-KR" altLang="en-US" dirty="0"/>
              <a:t>수백 </a:t>
            </a:r>
            <a:r>
              <a:rPr lang="en-US" altLang="ko-KR" dirty="0"/>
              <a:t>GB</a:t>
            </a:r>
            <a:r>
              <a:rPr lang="ko-KR" altLang="en-US" dirty="0"/>
              <a:t>에서 수 </a:t>
            </a:r>
            <a:r>
              <a:rPr lang="en-US" altLang="ko-KR" dirty="0"/>
              <a:t>TB</a:t>
            </a:r>
            <a:r>
              <a:rPr lang="ko-KR" altLang="en-US" dirty="0"/>
              <a:t>의 </a:t>
            </a:r>
            <a:r>
              <a:rPr lang="en-US" altLang="ko-KR" dirty="0"/>
              <a:t>VRAM</a:t>
            </a:r>
            <a:r>
              <a:rPr lang="ko-KR" altLang="en-US" dirty="0"/>
              <a:t>과 수십 장의 고가 엔터프라이즈 </a:t>
            </a:r>
            <a:r>
              <a:rPr lang="en-US" altLang="ko-KR" dirty="0"/>
              <a:t>GPU(</a:t>
            </a:r>
            <a:r>
              <a:rPr lang="en-US" altLang="ko-KR" dirty="0" err="1"/>
              <a:t>A100</a:t>
            </a:r>
            <a:r>
              <a:rPr lang="en-US" altLang="ko-KR" dirty="0"/>
              <a:t>, </a:t>
            </a:r>
            <a:r>
              <a:rPr lang="en-US" altLang="ko-KR" dirty="0" err="1"/>
              <a:t>H100</a:t>
            </a:r>
            <a:r>
              <a:rPr lang="en-US" altLang="ko-KR" dirty="0"/>
              <a:t>)</a:t>
            </a:r>
            <a:r>
              <a:rPr lang="ko-KR" altLang="en-US" dirty="0"/>
              <a:t>가 필요합니다</a:t>
            </a:r>
            <a:r>
              <a:rPr lang="en-US" altLang="ko-KR" dirty="0"/>
              <a:t>. </a:t>
            </a:r>
            <a:r>
              <a:rPr lang="ko-KR" altLang="en-US" dirty="0"/>
              <a:t>위 사양은 **미리 학습된 모델을 활용</a:t>
            </a:r>
            <a:r>
              <a:rPr lang="en-US" altLang="ko-KR" dirty="0"/>
              <a:t>(</a:t>
            </a:r>
            <a:r>
              <a:rPr lang="ko-KR" altLang="en-US" dirty="0"/>
              <a:t>추론</a:t>
            </a:r>
            <a:r>
              <a:rPr lang="en-US" altLang="ko-KR" dirty="0"/>
              <a:t>/</a:t>
            </a:r>
            <a:r>
              <a:rPr lang="ko-KR" altLang="en-US" dirty="0" err="1"/>
              <a:t>파인튜닝</a:t>
            </a:r>
            <a:r>
              <a:rPr lang="en-US" altLang="ko-KR" dirty="0"/>
              <a:t>)**</a:t>
            </a:r>
            <a:r>
              <a:rPr lang="ko-KR" altLang="en-US" dirty="0"/>
              <a:t>하는 경우를 기준으로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039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D5F7E-6495-EFD2-ACD9-AEBC174A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GPU: Intel Iris</a:t>
            </a:r>
            <a:r>
              <a:rPr lang="ko-KR" altLang="en-US" dirty="0"/>
              <a:t>와 </a:t>
            </a:r>
            <a:r>
              <a:rPr lang="en-US" altLang="ko-KR" dirty="0"/>
              <a:t>NVIDIA CUDA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A44772-39C9-F805-CBC7-1ACB24152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Intel Iris</a:t>
            </a:r>
            <a:r>
              <a:rPr lang="ko-KR" altLang="en-US" dirty="0"/>
              <a:t>와 </a:t>
            </a:r>
            <a:r>
              <a:rPr lang="en-US" altLang="ko-KR" dirty="0"/>
              <a:t>NVIDIA CUDA</a:t>
            </a:r>
            <a:r>
              <a:rPr lang="ko-KR" altLang="en-US" dirty="0"/>
              <a:t>는 근본적으로 다른 계층에서 비교해야 하는 대상입니다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Intel Iris:</a:t>
            </a:r>
            <a:r>
              <a:rPr lang="ko-KR" altLang="en-US" dirty="0"/>
              <a:t> </a:t>
            </a:r>
            <a:r>
              <a:rPr lang="en-US" altLang="ko-KR" dirty="0"/>
              <a:t>Intel CPU</a:t>
            </a:r>
            <a:r>
              <a:rPr lang="ko-KR" altLang="en-US" dirty="0"/>
              <a:t>에 통합된 내장 그래픽 하드웨어</a:t>
            </a:r>
            <a:r>
              <a:rPr lang="en-US" altLang="ko-KR" dirty="0"/>
              <a:t>(</a:t>
            </a:r>
            <a:r>
              <a:rPr lang="en-US" altLang="ko-KR" dirty="0" err="1"/>
              <a:t>iGPU</a:t>
            </a:r>
            <a:r>
              <a:rPr lang="en-US" altLang="ko-KR" dirty="0"/>
              <a:t>)</a:t>
            </a:r>
            <a:r>
              <a:rPr lang="ko-KR" altLang="en-US" dirty="0"/>
              <a:t>의 이름입니다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NVIDIA CUDA:</a:t>
            </a:r>
            <a:r>
              <a:rPr lang="ko-KR" altLang="en-US" dirty="0"/>
              <a:t> </a:t>
            </a:r>
            <a:r>
              <a:rPr lang="en-US" altLang="ko-KR" dirty="0"/>
              <a:t>NVIDIA GPU</a:t>
            </a:r>
            <a:r>
              <a:rPr lang="ko-KR" altLang="en-US" dirty="0"/>
              <a:t>의 병렬 컴퓨팅 작업을 위한 소프트웨어 플랫폼 및 프로그래밍 모델의 이름입니다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58370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BE0ED-97DF-148B-67E1-B545F50B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하드웨어 비교</a:t>
            </a:r>
            <a:r>
              <a:rPr lang="en-US" altLang="ko-KR" dirty="0"/>
              <a:t>: Iris (</a:t>
            </a:r>
            <a:r>
              <a:rPr lang="en-US" altLang="ko-KR" dirty="0" err="1"/>
              <a:t>iGPU</a:t>
            </a:r>
            <a:r>
              <a:rPr lang="en-US" altLang="ko-KR" dirty="0"/>
              <a:t>) vs. NVIDIA (</a:t>
            </a:r>
            <a:r>
              <a:rPr lang="en-US" altLang="ko-KR" dirty="0" err="1"/>
              <a:t>dGPU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2980936-80D4-07E0-BE2B-CECDE3581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436594"/>
              </p:ext>
            </p:extLst>
          </p:nvPr>
        </p:nvGraphicFramePr>
        <p:xfrm>
          <a:off x="838200" y="1533621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764">
                  <a:extLst>
                    <a:ext uri="{9D8B030D-6E8A-4147-A177-3AD203B41FA5}">
                      <a16:colId xmlns:a16="http://schemas.microsoft.com/office/drawing/2014/main" val="1769873742"/>
                    </a:ext>
                  </a:extLst>
                </a:gridCol>
                <a:gridCol w="5259636">
                  <a:extLst>
                    <a:ext uri="{9D8B030D-6E8A-4147-A177-3AD203B41FA5}">
                      <a16:colId xmlns:a16="http://schemas.microsoft.com/office/drawing/2014/main" val="30767392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4977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Intel Iris Graphics (iGPU)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NVIDIA GeForce/RTX (dGPU)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37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종류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내장 그래픽 </a:t>
                      </a:r>
                      <a:r>
                        <a:rPr lang="en-US" altLang="ko-KR" b="1"/>
                        <a:t>(</a:t>
                      </a:r>
                      <a:r>
                        <a:rPr lang="en-US" b="1"/>
                        <a:t>Integrated GPU)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외장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별도 그래픽 </a:t>
                      </a:r>
                      <a:r>
                        <a:rPr lang="en-US" altLang="ko-KR" b="1"/>
                        <a:t>(Discrete GPU)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96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목적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일반적인 디스플레이 출력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가벼운 그래픽 작업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노트북 전력 효율성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고성능 게임</a:t>
                      </a:r>
                      <a:r>
                        <a:rPr lang="en-US" altLang="ko-KR"/>
                        <a:t>, 3D </a:t>
                      </a:r>
                      <a:r>
                        <a:rPr lang="ko-KR" altLang="en-US"/>
                        <a:t>렌더링</a:t>
                      </a:r>
                      <a:r>
                        <a:rPr lang="en-US" altLang="ko-KR"/>
                        <a:t>, </a:t>
                      </a:r>
                      <a:r>
                        <a:rPr lang="en-US" altLang="ko-KR" b="1"/>
                        <a:t>AI/ML </a:t>
                      </a:r>
                      <a:r>
                        <a:rPr lang="ko-KR" altLang="en-US" b="1"/>
                        <a:t>연산 가속 </a:t>
                      </a:r>
                      <a:r>
                        <a:rPr lang="en-US" altLang="ko-KR" b="1"/>
                        <a:t>(LLM </a:t>
                      </a:r>
                      <a:r>
                        <a:rPr lang="ko-KR" altLang="en-US" b="1"/>
                        <a:t>포함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07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처리 장치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EU (Execution Units)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CUDA </a:t>
                      </a:r>
                      <a:r>
                        <a:rPr lang="ko-KR" altLang="en-US" b="1"/>
                        <a:t>코어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매우 많은 수의 병렬 프로세서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94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성능</a:t>
                      </a:r>
                      <a:r>
                        <a:rPr lang="en-US" altLang="ko-KR" b="1"/>
                        <a:t>/</a:t>
                      </a:r>
                      <a:r>
                        <a:rPr lang="en-US" b="1"/>
                        <a:t>VRAM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상대적으로 낮음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시스템 </a:t>
                      </a:r>
                      <a:r>
                        <a:rPr lang="en-US" altLang="ko-KR"/>
                        <a:t>RAM </a:t>
                      </a:r>
                      <a:r>
                        <a:rPr lang="ko-KR" altLang="en-US"/>
                        <a:t>공유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매우 높음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대용량 전용 </a:t>
                      </a:r>
                      <a:r>
                        <a:rPr lang="en-US" altLang="ko-KR"/>
                        <a:t>VRAM </a:t>
                      </a:r>
                      <a:r>
                        <a:rPr lang="ko-KR" altLang="en-US"/>
                        <a:t>탑재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24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전력 효율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매우 높음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배터리 사용에 유리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상대적으로 낮음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높은 전력 소모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967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LLM/AI </a:t>
                      </a:r>
                      <a:r>
                        <a:rPr lang="ko-KR" altLang="en-US" b="1"/>
                        <a:t>성능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제한적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속도가 매우 느림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압도적으로 우수함</a:t>
                      </a:r>
                      <a:r>
                        <a:rPr lang="en-US" altLang="ko-KR" dirty="0"/>
                        <a:t>, AI </a:t>
                      </a:r>
                      <a:r>
                        <a:rPr lang="ko-KR" altLang="en-US" dirty="0"/>
                        <a:t>연산의 표준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993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4367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96543-FF3F-C5DF-D89D-0FFC690A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소프트웨어 및 생태계 비교</a:t>
            </a:r>
            <a:r>
              <a:rPr lang="en-US" altLang="ko-KR" dirty="0"/>
              <a:t>: CUDA</a:t>
            </a:r>
            <a:r>
              <a:rPr lang="ko-KR" altLang="en-US" dirty="0"/>
              <a:t>의 역할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AE0B04E-70FE-EC0C-92B6-CA7EA323A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764527"/>
              </p:ext>
            </p:extLst>
          </p:nvPr>
        </p:nvGraphicFramePr>
        <p:xfrm>
          <a:off x="838200" y="1379385"/>
          <a:ext cx="10515600" cy="4090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106">
                  <a:extLst>
                    <a:ext uri="{9D8B030D-6E8A-4147-A177-3AD203B41FA5}">
                      <a16:colId xmlns:a16="http://schemas.microsoft.com/office/drawing/2014/main" val="3754929678"/>
                    </a:ext>
                  </a:extLst>
                </a:gridCol>
                <a:gridCol w="4208443">
                  <a:extLst>
                    <a:ext uri="{9D8B030D-6E8A-4147-A177-3AD203B41FA5}">
                      <a16:colId xmlns:a16="http://schemas.microsoft.com/office/drawing/2014/main" val="1285370032"/>
                    </a:ext>
                  </a:extLst>
                </a:gridCol>
                <a:gridCol w="4986051">
                  <a:extLst>
                    <a:ext uri="{9D8B030D-6E8A-4147-A177-3AD203B41FA5}">
                      <a16:colId xmlns:a16="http://schemas.microsoft.com/office/drawing/2014/main" val="2142175457"/>
                    </a:ext>
                  </a:extLst>
                </a:gridCol>
              </a:tblGrid>
              <a:tr h="773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NVIDIA CUDA (Compute Unified Device Architecture)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OpenCL, oneAPI (Intel)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447907"/>
                  </a:ext>
                </a:extLst>
              </a:tr>
              <a:tr h="773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역할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/>
                        <a:t>NVIDIA GPU</a:t>
                      </a:r>
                      <a:r>
                        <a:rPr lang="ko-KR" altLang="en-US" b="1"/>
                        <a:t>의 병렬 연산</a:t>
                      </a:r>
                      <a:r>
                        <a:rPr lang="en-US" altLang="ko-KR" b="1"/>
                        <a:t>(AI </a:t>
                      </a:r>
                      <a:r>
                        <a:rPr lang="ko-KR" altLang="en-US" b="1"/>
                        <a:t>연산</a:t>
                      </a:r>
                      <a:r>
                        <a:rPr lang="en-US" altLang="ko-KR" b="1"/>
                        <a:t>)</a:t>
                      </a:r>
                      <a:r>
                        <a:rPr lang="ko-KR" altLang="en-US" b="1"/>
                        <a:t>을 위한 표준 소프트웨어 플랫폼 및 </a:t>
                      </a:r>
                      <a:r>
                        <a:rPr lang="en-US" altLang="ko-KR" b="1"/>
                        <a:t>API.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다양한 제조사의 </a:t>
                      </a:r>
                      <a:r>
                        <a:rPr lang="en-US" altLang="ko-KR"/>
                        <a:t>GPU(Intel, AMD)</a:t>
                      </a:r>
                      <a:r>
                        <a:rPr lang="ko-KR" altLang="en-US"/>
                        <a:t>를 위한 범용 병렬 컴퓨팅 </a:t>
                      </a:r>
                      <a:r>
                        <a:rPr lang="en-US" altLang="ko-KR"/>
                        <a:t>API.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41314"/>
                  </a:ext>
                </a:extLst>
              </a:tr>
              <a:tr h="1105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최적화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**</a:t>
                      </a:r>
                      <a:r>
                        <a:rPr lang="en-US" altLang="ko-KR"/>
                        <a:t>AI/</a:t>
                      </a:r>
                      <a:r>
                        <a:rPr lang="ko-KR" altLang="en-US"/>
                        <a:t>딥러닝에 최적화된 라이브러리 </a:t>
                      </a:r>
                      <a:r>
                        <a:rPr lang="en-US" altLang="ko-KR"/>
                        <a:t>(cuDNN, TensorRT)**</a:t>
                      </a:r>
                      <a:r>
                        <a:rPr lang="ko-KR" altLang="en-US"/>
                        <a:t>가 풍부하여 성능이 매우 높습니다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범용성이 높으나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딥러닝 생태계와 라이브러리 지원이 </a:t>
                      </a:r>
                      <a:r>
                        <a:rPr lang="en-US" altLang="ko-KR" b="1"/>
                        <a:t>CUDA </a:t>
                      </a:r>
                      <a:r>
                        <a:rPr lang="ko-KR" altLang="en-US" b="1"/>
                        <a:t>대비 부족</a:t>
                      </a:r>
                      <a:r>
                        <a:rPr lang="ko-KR" altLang="en-US"/>
                        <a:t>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356217"/>
                  </a:ext>
                </a:extLst>
              </a:tr>
              <a:tr h="1437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생태계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압도적인 우위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모든 주요 딥러닝 프레임워크</a:t>
                      </a:r>
                      <a:r>
                        <a:rPr lang="en-US" altLang="ko-KR"/>
                        <a:t>(PyTorch, TensorFlow)</a:t>
                      </a:r>
                      <a:r>
                        <a:rPr lang="ko-KR" altLang="en-US"/>
                        <a:t>가 </a:t>
                      </a:r>
                      <a:r>
                        <a:rPr lang="en-US" altLang="ko-KR"/>
                        <a:t>CUDA</a:t>
                      </a:r>
                      <a:r>
                        <a:rPr lang="ko-KR" altLang="en-US"/>
                        <a:t>를 기본적으로 지원하고 최고 성능을 발휘합니다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최근 </a:t>
                      </a:r>
                      <a:r>
                        <a:rPr lang="en-US" altLang="ko-KR" dirty="0"/>
                        <a:t>Intel</a:t>
                      </a:r>
                      <a:r>
                        <a:rPr lang="ko-KR" altLang="en-US" dirty="0"/>
                        <a:t>의 </a:t>
                      </a:r>
                      <a:r>
                        <a:rPr lang="en-US" altLang="ko-KR" b="1" dirty="0" err="1"/>
                        <a:t>oneAPI</a:t>
                      </a:r>
                      <a:r>
                        <a:rPr lang="ko-KR" altLang="en-US" dirty="0"/>
                        <a:t>가 </a:t>
                      </a:r>
                      <a:r>
                        <a:rPr lang="en-US" altLang="ko-KR" dirty="0"/>
                        <a:t>Iris </a:t>
                      </a:r>
                      <a:r>
                        <a:rPr lang="ko-KR" altLang="en-US" dirty="0"/>
                        <a:t>및 </a:t>
                      </a:r>
                      <a:r>
                        <a:rPr lang="en-US" altLang="ko-KR" dirty="0"/>
                        <a:t>Arc GPU</a:t>
                      </a:r>
                      <a:r>
                        <a:rPr lang="ko-KR" altLang="en-US" dirty="0"/>
                        <a:t>를 위해 발전하고 있지만</a:t>
                      </a:r>
                      <a:r>
                        <a:rPr lang="en-US" altLang="ko-KR" dirty="0"/>
                        <a:t>, LLM </a:t>
                      </a:r>
                      <a:r>
                        <a:rPr lang="ko-KR" altLang="en-US" dirty="0"/>
                        <a:t>분야의 </a:t>
                      </a:r>
                      <a:r>
                        <a:rPr lang="ko-KR" altLang="en-US" b="1" dirty="0"/>
                        <a:t>표준 생태계</a:t>
                      </a:r>
                      <a:r>
                        <a:rPr lang="ko-KR" altLang="en-US" dirty="0"/>
                        <a:t>로 자리 잡기에는 시간이 더 필요합니다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74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2678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DE2D3-169C-B567-866D-EA6CBB20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연산에서의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9AAD7-3B09-D907-2D3F-33FF583A3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학습 및 고성능 추론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NVIDIA GPU</a:t>
            </a:r>
            <a:r>
              <a:rPr lang="ko-KR" altLang="en-US" dirty="0"/>
              <a:t>와 </a:t>
            </a:r>
            <a:r>
              <a:rPr lang="en-US" altLang="ko-KR" dirty="0"/>
              <a:t>CUDA</a:t>
            </a:r>
            <a:r>
              <a:rPr lang="ko-KR" altLang="en-US" dirty="0"/>
              <a:t>는 필수적인 조합입니다</a:t>
            </a:r>
            <a:r>
              <a:rPr lang="en-US" altLang="ko-KR" dirty="0"/>
              <a:t>. LLM</a:t>
            </a:r>
            <a:r>
              <a:rPr lang="ko-KR" altLang="en-US" dirty="0"/>
              <a:t>의 방대한 행렬 연산을 </a:t>
            </a:r>
            <a:r>
              <a:rPr lang="en-US" altLang="ko-KR" dirty="0"/>
              <a:t>CUDA </a:t>
            </a:r>
            <a:r>
              <a:rPr lang="ko-KR" altLang="en-US" dirty="0"/>
              <a:t>코어가 병렬로 처리하고</a:t>
            </a:r>
            <a:r>
              <a:rPr lang="en-US" altLang="ko-KR" dirty="0"/>
              <a:t>, </a:t>
            </a:r>
            <a:r>
              <a:rPr lang="ko-KR" altLang="en-US" dirty="0"/>
              <a:t>최적화된 소프트웨어 라이브러리가 속도를 극대화합니다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Intel Iris:</a:t>
            </a:r>
            <a:r>
              <a:rPr lang="ko-KR" altLang="en-US" dirty="0"/>
              <a:t> </a:t>
            </a:r>
            <a:r>
              <a:rPr lang="en-US" altLang="ko-KR" dirty="0"/>
              <a:t>Iris </a:t>
            </a:r>
            <a:r>
              <a:rPr lang="en-US" altLang="ko-KR" dirty="0" err="1"/>
              <a:t>iGPU</a:t>
            </a:r>
            <a:r>
              <a:rPr lang="ko-KR" altLang="en-US" dirty="0"/>
              <a:t>는 </a:t>
            </a:r>
            <a:r>
              <a:rPr lang="en-US" altLang="ko-KR" dirty="0"/>
              <a:t>LLM </a:t>
            </a:r>
            <a:r>
              <a:rPr lang="ko-KR" altLang="en-US" dirty="0"/>
              <a:t>추론에 기술적으로 사용될 수는 있지만</a:t>
            </a:r>
            <a:r>
              <a:rPr lang="en-US" altLang="ko-KR" dirty="0"/>
              <a:t>(</a:t>
            </a:r>
            <a:r>
              <a:rPr lang="ko-KR" altLang="en-US" dirty="0"/>
              <a:t>주로 </a:t>
            </a:r>
            <a:r>
              <a:rPr lang="en-US" altLang="ko-KR" dirty="0"/>
              <a:t>OpenCL</a:t>
            </a:r>
            <a:r>
              <a:rPr lang="ko-KR" altLang="en-US" dirty="0"/>
              <a:t>이나 </a:t>
            </a:r>
            <a:r>
              <a:rPr lang="en-US" altLang="ko-KR" dirty="0"/>
              <a:t>Intel</a:t>
            </a:r>
            <a:r>
              <a:rPr lang="ko-KR" altLang="en-US" dirty="0"/>
              <a:t>의 </a:t>
            </a:r>
            <a:r>
              <a:rPr lang="en-US" altLang="ko-KR" dirty="0" err="1"/>
              <a:t>oneAPI</a:t>
            </a:r>
            <a:r>
              <a:rPr lang="en-US" altLang="ko-KR" dirty="0"/>
              <a:t> </a:t>
            </a:r>
            <a:r>
              <a:rPr lang="ko-KR" altLang="en-US" dirty="0"/>
              <a:t>등을 통해</a:t>
            </a:r>
            <a:r>
              <a:rPr lang="en-US" altLang="ko-KR" dirty="0"/>
              <a:t>), </a:t>
            </a:r>
            <a:r>
              <a:rPr lang="ko-KR" altLang="en-US" dirty="0"/>
              <a:t>전용 </a:t>
            </a:r>
            <a:r>
              <a:rPr lang="en-US" altLang="ko-KR" dirty="0"/>
              <a:t>VRAM</a:t>
            </a:r>
            <a:r>
              <a:rPr lang="ko-KR" altLang="en-US" dirty="0"/>
              <a:t>이 없고 연산 코어 수가 적어 속도가 매우 느리고</a:t>
            </a:r>
            <a:r>
              <a:rPr lang="en-US" altLang="ko-KR" dirty="0"/>
              <a:t>, </a:t>
            </a:r>
            <a:r>
              <a:rPr lang="ko-KR" altLang="en-US" dirty="0"/>
              <a:t>대형 모델 구동 자체가 불가능한 경우가 많습니다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LLM</a:t>
            </a:r>
            <a:r>
              <a:rPr lang="ko-KR" altLang="en-US" dirty="0"/>
              <a:t>이나 딥러닝 관점에서 볼 때</a:t>
            </a:r>
            <a:r>
              <a:rPr lang="en-US" altLang="ko-KR" dirty="0"/>
              <a:t>, Iris</a:t>
            </a:r>
            <a:r>
              <a:rPr lang="ko-KR" altLang="en-US" dirty="0"/>
              <a:t>는 가벼운 테스트용</a:t>
            </a:r>
            <a:r>
              <a:rPr lang="en-US" altLang="ko-KR" dirty="0"/>
              <a:t>, NVIDIA</a:t>
            </a:r>
            <a:r>
              <a:rPr lang="ko-KR" altLang="en-US" dirty="0"/>
              <a:t>는 실제 구동 및 개발용 표준입니다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383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F6332-2460-898C-5A92-74CC0C90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윤리 및 규제 </a:t>
            </a:r>
            <a:r>
              <a:rPr lang="en-US" altLang="ko-KR" dirty="0"/>
              <a:t>(AI Ethics &amp; Regulation)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BA735-3434-CB17-BC3C-E5879F2E6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기술의 발전 속도가 워낙 빠르다 보니</a:t>
            </a:r>
            <a:r>
              <a:rPr lang="en-US" altLang="ko-KR" dirty="0"/>
              <a:t>, </a:t>
            </a:r>
            <a:r>
              <a:rPr lang="ko-KR" altLang="en-US" dirty="0"/>
              <a:t>기술의 잠재적 위험을 통제하고 사회적 수용성을 확보하기 위한 윤리적 기준과 법적 규제가 핵심 이슈로 떠오르고 있습니다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AX</a:t>
            </a:r>
            <a:r>
              <a:rPr lang="ko-KR" altLang="en-US" dirty="0"/>
              <a:t>를 성공적으로 이끌기 위한 필수 전제 조건입니다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LLM</a:t>
            </a:r>
            <a:r>
              <a:rPr lang="ko-KR" altLang="en-US" dirty="0"/>
              <a:t>과 </a:t>
            </a:r>
            <a:r>
              <a:rPr lang="en-US" altLang="ko-KR" dirty="0"/>
              <a:t>AX</a:t>
            </a:r>
            <a:r>
              <a:rPr lang="ko-KR" altLang="en-US" dirty="0"/>
              <a:t>의 성공적인 도입은 결국 기술 발전과 윤리 및 규제 준수라는 두 축이 균형을 이루어야 가능합니다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3901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EEAF8E-7FF4-729B-3B6B-5B23B732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윤리 및 규제 </a:t>
            </a:r>
            <a:r>
              <a:rPr lang="en-US" altLang="ko-KR" dirty="0"/>
              <a:t>(AI Ethics &amp; Regulation)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4CDFE5-C3B2-70DA-EC28-1C7BEC039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윤리적 쟁점</a:t>
            </a:r>
          </a:p>
          <a:p>
            <a:r>
              <a:rPr lang="ko-KR" altLang="en-US" dirty="0"/>
              <a:t>편향성 </a:t>
            </a:r>
            <a:r>
              <a:rPr lang="en-US" altLang="ko-KR" dirty="0"/>
              <a:t>(Bias):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이 학습 데이터에 내재된 **사회적 편견</a:t>
            </a:r>
            <a:r>
              <a:rPr lang="en-US" altLang="ko-KR" dirty="0"/>
              <a:t>(</a:t>
            </a:r>
            <a:r>
              <a:rPr lang="ko-KR" altLang="en-US" dirty="0"/>
              <a:t>인종</a:t>
            </a:r>
            <a:r>
              <a:rPr lang="en-US" altLang="ko-KR" dirty="0"/>
              <a:t>, </a:t>
            </a:r>
            <a:r>
              <a:rPr lang="ko-KR" altLang="en-US" dirty="0"/>
              <a:t>성별 등</a:t>
            </a:r>
            <a:r>
              <a:rPr lang="en-US" altLang="ko-KR" dirty="0"/>
              <a:t>)**</a:t>
            </a:r>
            <a:r>
              <a:rPr lang="ko-KR" altLang="en-US" dirty="0"/>
              <a:t>을 학습하여 차별적인 결과를 내놓는 문제</a:t>
            </a:r>
            <a:r>
              <a:rPr lang="en-US" altLang="ko-KR" dirty="0"/>
              <a:t>. </a:t>
            </a:r>
            <a:r>
              <a:rPr lang="ko-KR" altLang="en-US" dirty="0"/>
              <a:t>이는 채용</a:t>
            </a:r>
            <a:r>
              <a:rPr lang="en-US" altLang="ko-KR" dirty="0"/>
              <a:t>, </a:t>
            </a:r>
            <a:r>
              <a:rPr lang="ko-KR" altLang="en-US" dirty="0"/>
              <a:t>대출 심사</a:t>
            </a:r>
            <a:r>
              <a:rPr lang="en-US" altLang="ko-KR" dirty="0"/>
              <a:t>, </a:t>
            </a:r>
            <a:r>
              <a:rPr lang="ko-KR" altLang="en-US" dirty="0"/>
              <a:t>사법 등 중요한 영역에서 심각한 윤리적 문제를 야기할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투명성 </a:t>
            </a:r>
            <a:r>
              <a:rPr lang="en-US" altLang="ko-KR" dirty="0"/>
              <a:t>(Explainability, XAI):</a:t>
            </a:r>
            <a:r>
              <a:rPr lang="ko-KR" altLang="en-US" dirty="0"/>
              <a:t> 딥러닝 모델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en-US" altLang="ko-KR" dirty="0"/>
              <a:t>LLM</a:t>
            </a:r>
            <a:r>
              <a:rPr lang="ko-KR" altLang="en-US" dirty="0"/>
              <a:t>이 왜 그런 결정을 내렸는지 그 판단 과정을 설명하기 어려운 문제 </a:t>
            </a:r>
            <a:r>
              <a:rPr lang="en-US" altLang="ko-KR" dirty="0"/>
              <a:t>(</a:t>
            </a:r>
            <a:r>
              <a:rPr lang="ko-KR" altLang="en-US" dirty="0"/>
              <a:t>블랙박스 문제</a:t>
            </a:r>
            <a:r>
              <a:rPr lang="en-US" altLang="ko-KR" dirty="0"/>
              <a:t>). </a:t>
            </a:r>
            <a:r>
              <a:rPr lang="ko-KR" altLang="en-US" dirty="0"/>
              <a:t>이로 인해 의료나 금융 같은 고위험 영역에서 책임 소재를 따지기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환각 </a:t>
            </a:r>
            <a:r>
              <a:rPr lang="en-US" altLang="ko-KR" dirty="0"/>
              <a:t>(Hallucination) </a:t>
            </a:r>
            <a:r>
              <a:rPr lang="ko-KR" altLang="en-US" dirty="0"/>
              <a:t>및 오용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LLM</a:t>
            </a:r>
            <a:r>
              <a:rPr lang="ko-KR" altLang="en-US" dirty="0"/>
              <a:t>이 그럴듯하게 **가짜 정보</a:t>
            </a:r>
            <a:r>
              <a:rPr lang="en-US" altLang="ko-KR" dirty="0"/>
              <a:t>(</a:t>
            </a:r>
            <a:r>
              <a:rPr lang="ko-KR" altLang="en-US" dirty="0"/>
              <a:t>환각</a:t>
            </a:r>
            <a:r>
              <a:rPr lang="en-US" altLang="ko-KR" dirty="0"/>
              <a:t>)**</a:t>
            </a:r>
            <a:r>
              <a:rPr lang="ko-KR" altLang="en-US" dirty="0"/>
              <a:t>를 생성하거나</a:t>
            </a:r>
            <a:r>
              <a:rPr lang="en-US" altLang="ko-KR" dirty="0"/>
              <a:t>, </a:t>
            </a:r>
            <a:r>
              <a:rPr lang="ko-KR" altLang="en-US" dirty="0" err="1"/>
              <a:t>딥페이크</a:t>
            </a:r>
            <a:r>
              <a:rPr lang="ko-KR" altLang="en-US" dirty="0"/>
              <a:t> 기술 등을 통해 악의적으로 사용되어 사회적 혼란을 야기하는 위험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41654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795B4-ED53-E3DF-DDA6-4E468772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윤리 및 규제 </a:t>
            </a:r>
            <a:r>
              <a:rPr lang="en-US" altLang="ko-KR" dirty="0"/>
              <a:t>(AI Ethics &amp; Regulation)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840AC-CA50-0E2D-6DF8-5F5F53018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글로벌 규제 동향</a:t>
            </a:r>
          </a:p>
          <a:p>
            <a:pPr lvl="1"/>
            <a:r>
              <a:rPr lang="ko-KR" altLang="en-US" dirty="0"/>
              <a:t>현재 전 세계는 혁신을 저해하지 않으면서도 </a:t>
            </a:r>
            <a:r>
              <a:rPr lang="en-US" altLang="ko-KR" dirty="0"/>
              <a:t>AI</a:t>
            </a:r>
            <a:r>
              <a:rPr lang="ko-KR" altLang="en-US" dirty="0"/>
              <a:t>의 위험을 관리하기 위해 움직이고 있습니다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EU AI Act:</a:t>
            </a:r>
            <a:r>
              <a:rPr lang="ko-KR" altLang="en-US" dirty="0"/>
              <a:t> 세계 최초의 포괄적인 </a:t>
            </a:r>
            <a:r>
              <a:rPr lang="en-US" altLang="ko-KR" dirty="0"/>
              <a:t>AI </a:t>
            </a:r>
            <a:r>
              <a:rPr lang="ko-KR" altLang="en-US" dirty="0"/>
              <a:t>규제 법안으로</a:t>
            </a:r>
            <a:r>
              <a:rPr lang="en-US" altLang="ko-KR" dirty="0"/>
              <a:t>, AI </a:t>
            </a:r>
            <a:r>
              <a:rPr lang="ko-KR" altLang="en-US" dirty="0"/>
              <a:t>시스템을 **위험 수준별</a:t>
            </a:r>
            <a:r>
              <a:rPr lang="en-US" altLang="ko-KR" dirty="0"/>
              <a:t>(</a:t>
            </a:r>
            <a:r>
              <a:rPr lang="ko-KR" altLang="en-US" dirty="0"/>
              <a:t>허용 불가</a:t>
            </a:r>
            <a:r>
              <a:rPr lang="en-US" altLang="ko-KR" dirty="0"/>
              <a:t>, </a:t>
            </a:r>
            <a:r>
              <a:rPr lang="ko-KR" altLang="en-US" dirty="0"/>
              <a:t>고위험</a:t>
            </a:r>
            <a:r>
              <a:rPr lang="en-US" altLang="ko-KR" dirty="0"/>
              <a:t>, </a:t>
            </a:r>
            <a:r>
              <a:rPr lang="ko-KR" altLang="en-US" dirty="0"/>
              <a:t>제한적 위험</a:t>
            </a:r>
            <a:r>
              <a:rPr lang="en-US" altLang="ko-KR" dirty="0"/>
              <a:t>)**</a:t>
            </a:r>
            <a:r>
              <a:rPr lang="ko-KR" altLang="en-US" dirty="0"/>
              <a:t>로 분류하고 차등 규제를 적용하는 방식을 채택했습니다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AI </a:t>
            </a:r>
            <a:r>
              <a:rPr lang="ko-KR" altLang="en-US" dirty="0"/>
              <a:t>개발 및 상용화의 글로벌 표준이 될 가능성이 높습니다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미국 행정명령 및 지침</a:t>
            </a:r>
            <a:r>
              <a:rPr lang="en-US" altLang="ko-KR" dirty="0"/>
              <a:t>:</a:t>
            </a:r>
            <a:r>
              <a:rPr lang="ko-KR" altLang="en-US" dirty="0"/>
              <a:t> 미국은 주로 행정명령과 자율 규제를 통해 </a:t>
            </a:r>
            <a:r>
              <a:rPr lang="en-US" altLang="ko-KR" dirty="0"/>
              <a:t>AI</a:t>
            </a:r>
            <a:r>
              <a:rPr lang="ko-KR" altLang="en-US" dirty="0"/>
              <a:t>의 안전성 확보와 혁신 지원이라는 두 마리 토끼를 잡으려 하고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기업의 책임</a:t>
            </a:r>
            <a:r>
              <a:rPr lang="en-US" altLang="ko-KR" dirty="0"/>
              <a:t>:</a:t>
            </a:r>
            <a:r>
              <a:rPr lang="ko-KR" altLang="en-US" dirty="0"/>
              <a:t> 이제 </a:t>
            </a:r>
            <a:r>
              <a:rPr lang="en-US" altLang="ko-KR" dirty="0"/>
              <a:t>AI</a:t>
            </a:r>
            <a:r>
              <a:rPr lang="ko-KR" altLang="en-US" dirty="0"/>
              <a:t>를 도입하는 기업</a:t>
            </a:r>
            <a:r>
              <a:rPr lang="en-US" altLang="ko-KR" dirty="0"/>
              <a:t>(AX </a:t>
            </a:r>
            <a:r>
              <a:rPr lang="ko-KR" altLang="en-US" dirty="0"/>
              <a:t>추진 기업</a:t>
            </a:r>
            <a:r>
              <a:rPr lang="en-US" altLang="ko-KR" dirty="0"/>
              <a:t>)</a:t>
            </a:r>
            <a:r>
              <a:rPr lang="ko-KR" altLang="en-US" dirty="0"/>
              <a:t>은 기술의 성능뿐 아니라 윤리적 안정성과 규제 준수</a:t>
            </a:r>
            <a:r>
              <a:rPr lang="en-US" altLang="ko-KR" dirty="0"/>
              <a:t>(Compliance)</a:t>
            </a:r>
            <a:r>
              <a:rPr lang="ko-KR" altLang="en-US" dirty="0"/>
              <a:t>를 최우선으로 고려해야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330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6978</Words>
  <Application>Microsoft Office PowerPoint</Application>
  <PresentationFormat>와이드스크린</PresentationFormat>
  <Paragraphs>524</Paragraphs>
  <Slides>65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9" baseType="lpstr">
      <vt:lpstr>Google Sans Text</vt:lpstr>
      <vt:lpstr>맑은 고딕</vt:lpstr>
      <vt:lpstr>Arial</vt:lpstr>
      <vt:lpstr>Office 테마</vt:lpstr>
      <vt:lpstr>AX 시대</vt:lpstr>
      <vt:lpstr>DX/AX 의 시대</vt:lpstr>
      <vt:lpstr>AX시대란</vt:lpstr>
      <vt:lpstr>AX시대의 특징</vt:lpstr>
      <vt:lpstr>AX와 DX의 차이</vt:lpstr>
      <vt:lpstr>AX의 적용 사례 1</vt:lpstr>
      <vt:lpstr>AX의 적용 사례 2</vt:lpstr>
      <vt:lpstr>AX의 적용 사례 3</vt:lpstr>
      <vt:lpstr>AX의 적용 사례 4</vt:lpstr>
      <vt:lpstr>AX 시대에서 위험사업분야</vt:lpstr>
      <vt:lpstr>AI를 통해 위험을 관리/저감하는 (고위험) 산업</vt:lpstr>
      <vt:lpstr>AI 도입 및 활용으로 새로운 위험이 발생하는 분야</vt:lpstr>
      <vt:lpstr>주요 AI 기술 </vt:lpstr>
      <vt:lpstr>주요 AI 기술 </vt:lpstr>
      <vt:lpstr>주요 AI 기술 </vt:lpstr>
      <vt:lpstr>주요 AI 기술 </vt:lpstr>
      <vt:lpstr>주요 AI 기술 </vt:lpstr>
      <vt:lpstr>주요 AI 기술 </vt:lpstr>
      <vt:lpstr>LLM이란? (Large Language Model)</vt:lpstr>
      <vt:lpstr>LLM의 특징</vt:lpstr>
      <vt:lpstr>LLM이 작동하는 방식 (토큰과 예측)</vt:lpstr>
      <vt:lpstr>LLM의 주요 적용 사례</vt:lpstr>
      <vt:lpstr>LLM의 주요 적용 사례</vt:lpstr>
      <vt:lpstr>LLM의 주요 적용 사례</vt:lpstr>
      <vt:lpstr>LLM의 주요 적용 사례</vt:lpstr>
      <vt:lpstr>LLM의 주요 적용 사례</vt:lpstr>
      <vt:lpstr>LLM의 주요 적용 사례</vt:lpstr>
      <vt:lpstr>LLM의 원리: 다음 단어 예측과 트랜스포머</vt:lpstr>
      <vt:lpstr>핵심 원리: 다음 단어(토큰) 예측</vt:lpstr>
      <vt:lpstr>구동 아키텍처: 트랜스포머 (Transformer)</vt:lpstr>
      <vt:lpstr>구동 아키텍처: 트랜스포머 (Transformer)</vt:lpstr>
      <vt:lpstr>학습 방식의 진화</vt:lpstr>
      <vt:lpstr>주요 LLM(거대 언어 모델) 모델들</vt:lpstr>
      <vt:lpstr>주요 LLM(거대 언어 모델) 모델들</vt:lpstr>
      <vt:lpstr>주요 LLM(거대 언어 모델) 모델들</vt:lpstr>
      <vt:lpstr>AX (AI Transformation)의 산업별 성공 사례</vt:lpstr>
      <vt:lpstr>AX (AI Transformation)의 산업별 성공 사례</vt:lpstr>
      <vt:lpstr>AX (AI Transformation)의 산업별 성공 사례</vt:lpstr>
      <vt:lpstr>AX (AI Transformation)의 산업별 성공 사례</vt:lpstr>
      <vt:lpstr>RAG란? (Retrieval-Augmented Generation)</vt:lpstr>
      <vt:lpstr>RAG가 필요한 이유 (LLM의 한계 극복)</vt:lpstr>
      <vt:lpstr>RAG의 작동 원리 (3단계)</vt:lpstr>
      <vt:lpstr>RAG의 주요 장점</vt:lpstr>
      <vt:lpstr>랭체인(LangChain)이란?</vt:lpstr>
      <vt:lpstr>랭체인의 5가지 핵심 구성 요소</vt:lpstr>
      <vt:lpstr>랭체인을 활용한 RAG 구현</vt:lpstr>
      <vt:lpstr>허깅페이스</vt:lpstr>
      <vt:lpstr>허깅 페이스의 핵심 구성 요소 (3가지)</vt:lpstr>
      <vt:lpstr>허깅 페이스의 핵심 구성 요소 (3가지)</vt:lpstr>
      <vt:lpstr>허깅 페이스의 핵심 구성 요소 (3가지)</vt:lpstr>
      <vt:lpstr>허깅 페이스의 중요성</vt:lpstr>
      <vt:lpstr>AI/LLM 생태계의 주요 추가 개념</vt:lpstr>
      <vt:lpstr>AI/LLM 생태계의 주요 추가 개념</vt:lpstr>
      <vt:lpstr>AI/LLM 생태계의 주요 추가 개념</vt:lpstr>
      <vt:lpstr>LLM 추론을 위한 최소 하드웨어 요구 사항</vt:lpstr>
      <vt:lpstr>LLM 추론을 위한 최소 하드웨어 요구 사항</vt:lpstr>
      <vt:lpstr>LLM 추론을 위한 최소 하드웨어 요구 사항</vt:lpstr>
      <vt:lpstr>LLM 하드웨어 선택 시 핵심 고려 사항</vt:lpstr>
      <vt:lpstr>GPU: Intel Iris와 NVIDIA CUDA 비교</vt:lpstr>
      <vt:lpstr>하드웨어 비교: Iris (iGPU) vs. NVIDIA (dGPU)</vt:lpstr>
      <vt:lpstr>AI 소프트웨어 및 생태계 비교: CUDA의 역할</vt:lpstr>
      <vt:lpstr>LLM 연산에서의 차이</vt:lpstr>
      <vt:lpstr>AI 윤리 및 규제 (AI Ethics &amp; Regulation)</vt:lpstr>
      <vt:lpstr>AI 윤리 및 규제 (AI Ethics &amp; Regulation)</vt:lpstr>
      <vt:lpstr>AI 윤리 및 규제 (AI Ethics &amp; Regulation)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현숙 백</dc:creator>
  <cp:lastModifiedBy>현숙 백</cp:lastModifiedBy>
  <cp:revision>2</cp:revision>
  <dcterms:created xsi:type="dcterms:W3CDTF">2025-11-07T14:18:57Z</dcterms:created>
  <dcterms:modified xsi:type="dcterms:W3CDTF">2025-11-08T00:57:47Z</dcterms:modified>
</cp:coreProperties>
</file>